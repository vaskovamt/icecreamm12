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29"/>
  </p:notesMasterIdLst>
  <p:sldIdLst>
    <p:sldId id="256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</p:sldIdLst>
  <p:sldSz cx="9144000" cy="5143500" type="screen16x9"/>
  <p:notesSz cx="6858000" cy="9144000"/>
  <p:embeddedFontLst>
    <p:embeddedFont>
      <p:font typeface="Albert Sans" panose="020B0604020202020204" charset="0"/>
      <p:regular r:id="rId30"/>
      <p:bold r:id="rId31"/>
      <p:italic r:id="rId32"/>
      <p:boldItalic r:id="rId33"/>
    </p:embeddedFont>
    <p:embeddedFont>
      <p:font typeface="Alexandria Medium" panose="020B0604020202020204" charset="-78"/>
      <p:regular r:id="rId34"/>
      <p:bold r:id="rId35"/>
    </p:embeddedFont>
    <p:embeddedFont>
      <p:font typeface="Cascadia Code SemiBold" panose="020B0609020000020004" pitchFamily="49" charset="0"/>
      <p:bold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75" name="Google Shape;75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bg-BG"/>
          </a:p>
        </p:txBody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1537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539488"/>
            <a:ext cx="5108100" cy="19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875950" y="4211213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l="130683" t="-50527" r="175247" b="34585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715100" y="1641400"/>
            <a:ext cx="3856800" cy="7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5714900" y="-75"/>
            <a:ext cx="3429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 rotWithShape="1">
          <a:blip r:embed="rId2">
            <a:alphaModFix/>
          </a:blip>
          <a:srcRect l="7043" t="47434" r="-48486" b="-26994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bg-BG"/>
          </a:p>
        </p:txBody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715100" y="4059800"/>
            <a:ext cx="7713600" cy="54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715100" y="3068600"/>
            <a:ext cx="7713900" cy="15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7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7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  <p:sldLayoutId id="214748366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ctrTitle"/>
          </p:nvPr>
        </p:nvSpPr>
        <p:spPr>
          <a:xfrm>
            <a:off x="0" y="1510145"/>
            <a:ext cx="9144000" cy="12860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Уеб приложение „</a:t>
            </a:r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IceCreamM12</a:t>
            </a:r>
            <a:r>
              <a:rPr lang="bg-BG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endParaRPr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6087FE5-083B-5A44-CEF2-66DD7720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614927"/>
          </a:xfrm>
        </p:spPr>
        <p:txBody>
          <a:bodyPr/>
          <a:lstStyle/>
          <a:p>
            <a:pPr algn="ctr"/>
            <a:r>
              <a:rPr lang="bg-BG" sz="2200" b="1" i="1" dirty="0"/>
              <a:t>Начална страница (</a:t>
            </a:r>
            <a:r>
              <a:rPr lang="en-US" sz="2200" b="1" i="1" dirty="0"/>
              <a:t> </a:t>
            </a:r>
            <a:r>
              <a:rPr lang="bg-BG" sz="2200" b="1" i="1" dirty="0"/>
              <a:t>първо отваряне)</a:t>
            </a: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8EEDF8F6-D335-E788-2DF7-3E5D17CA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460478"/>
            <a:ext cx="4731328" cy="26582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3B3253BD-0490-AA23-97C9-56CED727C2D2}"/>
              </a:ext>
            </a:extLst>
          </p:cNvPr>
          <p:cNvSpPr txBox="1"/>
          <p:nvPr/>
        </p:nvSpPr>
        <p:spPr>
          <a:xfrm>
            <a:off x="5550338" y="1558481"/>
            <a:ext cx="321266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„Начало“ с </a:t>
            </a:r>
            <a:r>
              <a:rPr lang="en-US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hero </a:t>
            </a:r>
            <a:r>
              <a:rPr lang="bg-BG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секция, бутони „Разгледай колекцията“ и „Резервирай дегустация“, плюс статистики и снимка на магазина.</a:t>
            </a:r>
          </a:p>
          <a:p>
            <a:pPr algn="just"/>
            <a:endParaRPr lang="bg-BG" dirty="0">
              <a:latin typeface="Aptos Display" panose="020B0004020202020204" pitchFamily="34" charset="0"/>
              <a:cs typeface="Cascadia Code SemiBold" panose="020B0609020000020004" pitchFamily="49" charset="0"/>
            </a:endParaRPr>
          </a:p>
          <a:p>
            <a:pPr algn="just"/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При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стартиране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на IceCreamM12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потребителят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вижда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модерна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начална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страница с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бранда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основните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действия. На фокус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са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бързият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достъп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до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продуктовия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каталог и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контактите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както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 и визуални </a:t>
            </a:r>
            <a:r>
              <a:rPr lang="ru-RU" dirty="0" err="1">
                <a:latin typeface="Aptos Display" panose="020B0004020202020204" pitchFamily="34" charset="0"/>
                <a:cs typeface="Cascadia Code SemiBold" panose="020B0609020000020004" pitchFamily="49" charset="0"/>
              </a:rPr>
              <a:t>елементи</a:t>
            </a:r>
            <a:r>
              <a:rPr lang="ru-RU" dirty="0">
                <a:latin typeface="Aptos Display" panose="020B0004020202020204" pitchFamily="34" charset="0"/>
                <a:cs typeface="Cascadia Code SemiBold" panose="020B0609020000020004" pitchFamily="49" charset="0"/>
              </a:rPr>
              <a:t>.</a:t>
            </a:r>
            <a:endParaRPr lang="bg-BG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658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EBFDD82-0083-4C50-F5EF-DA5FD6A7D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1023636"/>
          </a:xfrm>
        </p:spPr>
        <p:txBody>
          <a:bodyPr/>
          <a:lstStyle/>
          <a:p>
            <a:pPr algn="ctr"/>
            <a:r>
              <a:rPr lang="bg-BG" sz="2200" b="1" i="1" dirty="0"/>
              <a:t>Публична навигация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A51C7211-5FCF-9D89-020A-642CC2A07644}"/>
              </a:ext>
            </a:extLst>
          </p:cNvPr>
          <p:cNvSpPr txBox="1"/>
          <p:nvPr/>
        </p:nvSpPr>
        <p:spPr>
          <a:xfrm>
            <a:off x="2372590" y="1655486"/>
            <a:ext cx="4398819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sz="1500" dirty="0">
                <a:latin typeface="Aptos Display" panose="020B0004020202020204" pitchFamily="34" charset="0"/>
              </a:rPr>
              <a:t>Горна лента с „Начало“, „Продукти“, „Контакти“, както и „Регистрация“ и „Вход“ (ако не си </a:t>
            </a:r>
            <a:r>
              <a:rPr lang="bg-BG" sz="1500" dirty="0" err="1">
                <a:latin typeface="Aptos Display" panose="020B0004020202020204" pitchFamily="34" charset="0"/>
              </a:rPr>
              <a:t>логнат</a:t>
            </a:r>
            <a:r>
              <a:rPr lang="bg-BG" sz="1500" dirty="0">
                <a:latin typeface="Aptos Display" panose="020B0004020202020204" pitchFamily="34" charset="0"/>
              </a:rPr>
              <a:t>).</a:t>
            </a:r>
          </a:p>
          <a:p>
            <a:pPr algn="just"/>
            <a:endParaRPr lang="bg-BG" dirty="0">
              <a:latin typeface="Aptos Display" panose="020B0004020202020204" pitchFamily="34" charset="0"/>
            </a:endParaRPr>
          </a:p>
          <a:p>
            <a:pPr algn="just"/>
            <a:endParaRPr lang="bg-BG" dirty="0">
              <a:latin typeface="Aptos Display" panose="020B0004020202020204" pitchFamily="34" charset="0"/>
            </a:endParaRPr>
          </a:p>
          <a:p>
            <a:pPr algn="just"/>
            <a:r>
              <a:rPr lang="ru-RU" sz="1500" dirty="0" err="1">
                <a:latin typeface="Aptos Display" panose="020B0004020202020204" pitchFamily="34" charset="0"/>
              </a:rPr>
              <a:t>Публичната</a:t>
            </a:r>
            <a:r>
              <a:rPr lang="ru-RU" sz="1500" dirty="0">
                <a:latin typeface="Aptos Display" panose="020B0004020202020204" pitchFamily="34" charset="0"/>
              </a:rPr>
              <a:t> навигация е </a:t>
            </a:r>
            <a:r>
              <a:rPr lang="ru-RU" sz="1500" dirty="0" err="1">
                <a:latin typeface="Aptos Display" panose="020B0004020202020204" pitchFamily="34" charset="0"/>
              </a:rPr>
              <a:t>максимално</a:t>
            </a:r>
            <a:r>
              <a:rPr lang="ru-RU" sz="1500" dirty="0">
                <a:latin typeface="Aptos Display" panose="020B0004020202020204" pitchFamily="34" charset="0"/>
              </a:rPr>
              <a:t> </a:t>
            </a:r>
            <a:r>
              <a:rPr lang="ru-RU" sz="1500" dirty="0" err="1">
                <a:latin typeface="Aptos Display" panose="020B0004020202020204" pitchFamily="34" charset="0"/>
              </a:rPr>
              <a:t>изчистена</a:t>
            </a:r>
            <a:r>
              <a:rPr lang="ru-RU" sz="1500" dirty="0">
                <a:latin typeface="Aptos Display" panose="020B0004020202020204" pitchFamily="34" charset="0"/>
              </a:rPr>
              <a:t> и позволява </a:t>
            </a:r>
            <a:r>
              <a:rPr lang="ru-RU" sz="1500" dirty="0" err="1">
                <a:latin typeface="Aptos Display" panose="020B0004020202020204" pitchFamily="34" charset="0"/>
              </a:rPr>
              <a:t>бързо</a:t>
            </a:r>
            <a:r>
              <a:rPr lang="ru-RU" sz="1500" dirty="0">
                <a:latin typeface="Aptos Display" panose="020B0004020202020204" pitchFamily="34" charset="0"/>
              </a:rPr>
              <a:t> </a:t>
            </a:r>
            <a:r>
              <a:rPr lang="ru-RU" sz="1500" dirty="0" err="1">
                <a:latin typeface="Aptos Display" panose="020B0004020202020204" pitchFamily="34" charset="0"/>
              </a:rPr>
              <a:t>преминаване</a:t>
            </a:r>
            <a:r>
              <a:rPr lang="ru-RU" sz="1500" dirty="0">
                <a:latin typeface="Aptos Display" panose="020B0004020202020204" pitchFamily="34" charset="0"/>
              </a:rPr>
              <a:t> между </a:t>
            </a:r>
            <a:r>
              <a:rPr lang="ru-RU" sz="1500" dirty="0" err="1">
                <a:latin typeface="Aptos Display" panose="020B0004020202020204" pitchFamily="34" charset="0"/>
              </a:rPr>
              <a:t>основните</a:t>
            </a:r>
            <a:r>
              <a:rPr lang="ru-RU" sz="1500" dirty="0">
                <a:latin typeface="Aptos Display" panose="020B0004020202020204" pitchFamily="34" charset="0"/>
              </a:rPr>
              <a:t> </a:t>
            </a:r>
            <a:r>
              <a:rPr lang="ru-RU" sz="1500" dirty="0" err="1">
                <a:latin typeface="Aptos Display" panose="020B0004020202020204" pitchFamily="34" charset="0"/>
              </a:rPr>
              <a:t>страници</a:t>
            </a:r>
            <a:r>
              <a:rPr lang="ru-RU" sz="1500" dirty="0">
                <a:latin typeface="Aptos Display" panose="020B0004020202020204" pitchFamily="34" charset="0"/>
              </a:rPr>
              <a:t>. </a:t>
            </a:r>
            <a:r>
              <a:rPr lang="ru-RU" sz="1500" dirty="0" err="1">
                <a:latin typeface="Aptos Display" panose="020B0004020202020204" pitchFamily="34" charset="0"/>
              </a:rPr>
              <a:t>Потребителят</a:t>
            </a:r>
            <a:r>
              <a:rPr lang="ru-RU" sz="1500" dirty="0">
                <a:latin typeface="Aptos Display" panose="020B0004020202020204" pitchFamily="34" charset="0"/>
              </a:rPr>
              <a:t> </a:t>
            </a:r>
            <a:r>
              <a:rPr lang="ru-RU" sz="1500" dirty="0" err="1">
                <a:latin typeface="Aptos Display" panose="020B0004020202020204" pitchFamily="34" charset="0"/>
              </a:rPr>
              <a:t>лесно</a:t>
            </a:r>
            <a:r>
              <a:rPr lang="ru-RU" sz="1500" dirty="0">
                <a:latin typeface="Aptos Display" panose="020B0004020202020204" pitchFamily="34" charset="0"/>
              </a:rPr>
              <a:t> </a:t>
            </a:r>
            <a:r>
              <a:rPr lang="ru-RU" sz="1500" dirty="0" err="1">
                <a:latin typeface="Aptos Display" panose="020B0004020202020204" pitchFamily="34" charset="0"/>
              </a:rPr>
              <a:t>намира</a:t>
            </a:r>
            <a:r>
              <a:rPr lang="ru-RU" sz="1500" dirty="0">
                <a:latin typeface="Aptos Display" panose="020B0004020202020204" pitchFamily="34" charset="0"/>
              </a:rPr>
              <a:t> информация за </a:t>
            </a:r>
            <a:r>
              <a:rPr lang="ru-RU" sz="1500" dirty="0" err="1">
                <a:latin typeface="Aptos Display" panose="020B0004020202020204" pitchFamily="34" charset="0"/>
              </a:rPr>
              <a:t>продуктите</a:t>
            </a:r>
            <a:r>
              <a:rPr lang="ru-RU" sz="1500" dirty="0">
                <a:latin typeface="Aptos Display" panose="020B0004020202020204" pitchFamily="34" charset="0"/>
              </a:rPr>
              <a:t>, начин за контакт и </a:t>
            </a:r>
            <a:r>
              <a:rPr lang="ru-RU" sz="1500" dirty="0" err="1">
                <a:latin typeface="Aptos Display" panose="020B0004020202020204" pitchFamily="34" charset="0"/>
              </a:rPr>
              <a:t>възможност</a:t>
            </a:r>
            <a:r>
              <a:rPr lang="ru-RU" sz="1500" dirty="0">
                <a:latin typeface="Aptos Display" panose="020B0004020202020204" pitchFamily="34" charset="0"/>
              </a:rPr>
              <a:t> за </a:t>
            </a:r>
            <a:r>
              <a:rPr lang="ru-RU" sz="1500" dirty="0" err="1">
                <a:latin typeface="Aptos Display" panose="020B0004020202020204" pitchFamily="34" charset="0"/>
              </a:rPr>
              <a:t>създаване</a:t>
            </a:r>
            <a:r>
              <a:rPr lang="ru-RU" sz="1500" dirty="0">
                <a:latin typeface="Aptos Display" panose="020B0004020202020204" pitchFamily="34" charset="0"/>
              </a:rPr>
              <a:t> на </a:t>
            </a:r>
            <a:r>
              <a:rPr lang="ru-RU" sz="1500" dirty="0" err="1">
                <a:latin typeface="Aptos Display" panose="020B0004020202020204" pitchFamily="34" charset="0"/>
              </a:rPr>
              <a:t>профил</a:t>
            </a:r>
            <a:r>
              <a:rPr lang="ru-RU" sz="1500" dirty="0">
                <a:latin typeface="Aptos Display" panose="020B0004020202020204" pitchFamily="34" charset="0"/>
              </a:rPr>
              <a:t> или вход в </a:t>
            </a:r>
            <a:r>
              <a:rPr lang="ru-RU" sz="1500" dirty="0" err="1">
                <a:latin typeface="Aptos Display" panose="020B0004020202020204" pitchFamily="34" charset="0"/>
              </a:rPr>
              <a:t>системата</a:t>
            </a:r>
            <a:r>
              <a:rPr lang="ru-RU" sz="1500" dirty="0">
                <a:latin typeface="Aptos Display" panose="020B0004020202020204" pitchFamily="34" charset="0"/>
              </a:rPr>
              <a:t>.</a:t>
            </a:r>
            <a:endParaRPr lang="bg-BG" sz="1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67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6C577CD-A692-55BD-E29E-BBEB94A1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53473"/>
          </a:xfrm>
        </p:spPr>
        <p:txBody>
          <a:bodyPr/>
          <a:lstStyle/>
          <a:p>
            <a:pPr algn="ctr"/>
            <a:r>
              <a:rPr lang="bg-BG" sz="2200" b="1" i="1" dirty="0"/>
              <a:t>Каталог „</a:t>
            </a:r>
            <a:r>
              <a:rPr lang="en-US" sz="2200" b="1" i="1" dirty="0"/>
              <a:t> </a:t>
            </a:r>
            <a:r>
              <a:rPr lang="bg-BG" sz="2200" b="1" i="1" dirty="0"/>
              <a:t>Продукти“ (</a:t>
            </a:r>
            <a:r>
              <a:rPr lang="en-US" sz="2200" b="1" i="1" dirty="0"/>
              <a:t> </a:t>
            </a:r>
            <a:r>
              <a:rPr lang="bg-BG" sz="2200" b="1" i="1" dirty="0"/>
              <a:t>публичен)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775E39E5-A631-6A61-F74D-0D61F5F0C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53" y="1509630"/>
            <a:ext cx="3669764" cy="21229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8D662100-DC14-E88B-9567-056B28235582}"/>
              </a:ext>
            </a:extLst>
          </p:cNvPr>
          <p:cNvSpPr txBox="1"/>
          <p:nvPr/>
        </p:nvSpPr>
        <p:spPr>
          <a:xfrm>
            <a:off x="5129802" y="1302328"/>
            <a:ext cx="3340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err="1">
                <a:latin typeface="Aptos Display" panose="020B0004020202020204" pitchFamily="34" charset="0"/>
              </a:rPr>
              <a:t>Показват</a:t>
            </a:r>
            <a:r>
              <a:rPr lang="ru-RU" dirty="0">
                <a:latin typeface="Aptos Display" panose="020B0004020202020204" pitchFamily="34" charset="0"/>
              </a:rPr>
              <a:t> се </a:t>
            </a:r>
            <a:r>
              <a:rPr lang="ru-RU" dirty="0" err="1">
                <a:latin typeface="Aptos Display" panose="020B0004020202020204" pitchFamily="34" charset="0"/>
              </a:rPr>
              <a:t>наличните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вкусове</a:t>
            </a:r>
            <a:r>
              <a:rPr lang="ru-RU" dirty="0">
                <a:latin typeface="Aptos Display" panose="020B0004020202020204" pitchFamily="34" charset="0"/>
              </a:rPr>
              <a:t>, описания и цена, </a:t>
            </a:r>
            <a:r>
              <a:rPr lang="ru-RU" dirty="0" err="1">
                <a:latin typeface="Aptos Display" panose="020B0004020202020204" pitchFamily="34" charset="0"/>
              </a:rPr>
              <a:t>което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улеснява</a:t>
            </a:r>
            <a:r>
              <a:rPr lang="ru-RU" dirty="0">
                <a:latin typeface="Aptos Display" panose="020B0004020202020204" pitchFamily="34" charset="0"/>
              </a:rPr>
              <a:t> клиента при сравнение и </a:t>
            </a:r>
            <a:r>
              <a:rPr lang="ru-RU" dirty="0" err="1">
                <a:latin typeface="Aptos Display" panose="020B0004020202020204" pitchFamily="34" charset="0"/>
              </a:rPr>
              <a:t>избор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още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преди</a:t>
            </a:r>
            <a:r>
              <a:rPr lang="ru-RU" dirty="0">
                <a:latin typeface="Aptos Display" panose="020B0004020202020204" pitchFamily="34" charset="0"/>
              </a:rPr>
              <a:t> да е </a:t>
            </a:r>
            <a:r>
              <a:rPr lang="ru-RU" dirty="0" err="1">
                <a:latin typeface="Aptos Display" panose="020B0004020202020204" pitchFamily="34" charset="0"/>
              </a:rPr>
              <a:t>влязъл</a:t>
            </a:r>
            <a:r>
              <a:rPr lang="ru-RU" dirty="0">
                <a:latin typeface="Aptos Display" panose="020B0004020202020204" pitchFamily="34" charset="0"/>
              </a:rPr>
              <a:t> в </a:t>
            </a:r>
            <a:r>
              <a:rPr lang="ru-RU" dirty="0" err="1">
                <a:latin typeface="Aptos Display" panose="020B0004020202020204" pitchFamily="34" charset="0"/>
              </a:rPr>
              <a:t>профила</a:t>
            </a:r>
            <a:r>
              <a:rPr lang="ru-RU" dirty="0">
                <a:latin typeface="Aptos Display" panose="020B0004020202020204" pitchFamily="34" charset="0"/>
              </a:rPr>
              <a:t> си.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1B663117-7954-2599-6DA8-BC5A57574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95" y="2545040"/>
            <a:ext cx="3017048" cy="20634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06336C15-AC28-49C7-2252-325602B7A4DF}"/>
              </a:ext>
            </a:extLst>
          </p:cNvPr>
          <p:cNvSpPr txBox="1"/>
          <p:nvPr/>
        </p:nvSpPr>
        <p:spPr>
          <a:xfrm>
            <a:off x="818262" y="3895471"/>
            <a:ext cx="3034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Каталогът представя </a:t>
            </a:r>
            <a:r>
              <a:rPr lang="ru-RU" dirty="0" err="1">
                <a:latin typeface="Aptos Display" panose="020B0004020202020204" pitchFamily="34" charset="0"/>
              </a:rPr>
              <a:t>продуктите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във</a:t>
            </a:r>
            <a:r>
              <a:rPr lang="ru-RU" dirty="0">
                <a:latin typeface="Aptos Display" panose="020B0004020202020204" pitchFamily="34" charset="0"/>
              </a:rPr>
              <a:t> визуални </a:t>
            </a:r>
            <a:r>
              <a:rPr lang="ru-RU" dirty="0" err="1">
                <a:latin typeface="Aptos Display" panose="020B0004020202020204" pitchFamily="34" charset="0"/>
              </a:rPr>
              <a:t>карти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подредени</a:t>
            </a:r>
            <a:r>
              <a:rPr lang="ru-RU" dirty="0">
                <a:latin typeface="Aptos Display" panose="020B0004020202020204" pitchFamily="34" charset="0"/>
              </a:rPr>
              <a:t> по тип и </a:t>
            </a:r>
            <a:r>
              <a:rPr lang="ru-RU" dirty="0" err="1">
                <a:latin typeface="Aptos Display" panose="020B0004020202020204" pitchFamily="34" charset="0"/>
              </a:rPr>
              <a:t>разфасовка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619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0B5B13E-EBA4-D61E-B30A-BE5EE19D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bg-BG" sz="2300" b="1" i="1" dirty="0"/>
              <a:t>Страница „</a:t>
            </a:r>
            <a:r>
              <a:rPr lang="en-US" sz="2300" b="1" i="1" dirty="0"/>
              <a:t> </a:t>
            </a:r>
            <a:r>
              <a:rPr lang="bg-BG" sz="2300" b="1" i="1" dirty="0"/>
              <a:t>Контакти“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92032CB2-83B6-89BD-97B1-07148A17E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00" y="1378527"/>
            <a:ext cx="2677287" cy="31115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E24E6F43-4A67-DEFB-CCB7-F4CACF2BD305}"/>
              </a:ext>
            </a:extLst>
          </p:cNvPr>
          <p:cNvSpPr txBox="1"/>
          <p:nvPr/>
        </p:nvSpPr>
        <p:spPr>
          <a:xfrm>
            <a:off x="4546314" y="1606708"/>
            <a:ext cx="3716786" cy="2057819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В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секция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„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Контакти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“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са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събрани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всички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ключови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данни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за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връзка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с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обекта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–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местоположение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работно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време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и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директни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канали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за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комуникация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. </a:t>
            </a:r>
            <a:endParaRPr lang="bg-BG" sz="1600" b="0" i="0" u="none" strike="noStrike" cap="none" dirty="0">
              <a:solidFill>
                <a:schemeClr val="dk1"/>
              </a:solidFill>
              <a:latin typeface="Aptos Display" panose="020B0004020202020204" pitchFamily="34" charset="0"/>
            </a:endParaRPr>
          </a:p>
          <a:p>
            <a:pPr algn="just">
              <a:spcAft>
                <a:spcPts val="600"/>
              </a:spcAft>
            </a:pPr>
            <a:endParaRPr lang="bg-BG" sz="1600" dirty="0">
              <a:solidFill>
                <a:schemeClr val="dk1"/>
              </a:solidFill>
              <a:latin typeface="Aptos Display" panose="020B000402020202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Това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дава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бърз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достъп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до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информация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за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посещение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или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</a:rPr>
              <a:t>запитване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70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7689D76-5C9D-837D-2503-0236FF3D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88109"/>
          </a:xfrm>
        </p:spPr>
        <p:txBody>
          <a:bodyPr/>
          <a:lstStyle/>
          <a:p>
            <a:pPr algn="ctr"/>
            <a:r>
              <a:rPr lang="bg-BG" sz="2200" b="1" i="1" dirty="0"/>
              <a:t>Вход / Регистрация + демо акаунти</a:t>
            </a: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633C1FFF-04B3-8DFD-D43B-A0FF77E3E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003" y="1533860"/>
            <a:ext cx="2016273" cy="28920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FACB6E1F-24BF-7ACD-BA06-E1B6077810C6}"/>
              </a:ext>
            </a:extLst>
          </p:cNvPr>
          <p:cNvSpPr txBox="1"/>
          <p:nvPr/>
        </p:nvSpPr>
        <p:spPr>
          <a:xfrm>
            <a:off x="595745" y="1856508"/>
            <a:ext cx="27570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Системата предоставя </a:t>
            </a:r>
            <a:r>
              <a:rPr lang="ru-RU" dirty="0" err="1">
                <a:latin typeface="Aptos Display" panose="020B0004020202020204" pitchFamily="34" charset="0"/>
              </a:rPr>
              <a:t>централна</a:t>
            </a:r>
            <a:r>
              <a:rPr lang="ru-RU" dirty="0">
                <a:latin typeface="Aptos Display" panose="020B0004020202020204" pitchFamily="34" charset="0"/>
              </a:rPr>
              <a:t> страница за </a:t>
            </a:r>
            <a:r>
              <a:rPr lang="ru-RU" dirty="0" err="1">
                <a:latin typeface="Aptos Display" panose="020B0004020202020204" pitchFamily="34" charset="0"/>
              </a:rPr>
              <a:t>автентикация</a:t>
            </a:r>
            <a:r>
              <a:rPr lang="ru-RU" dirty="0">
                <a:latin typeface="Aptos Display" panose="020B0004020202020204" pitchFamily="34" charset="0"/>
              </a:rPr>
              <a:t>, от </a:t>
            </a:r>
            <a:r>
              <a:rPr lang="ru-RU" dirty="0" err="1">
                <a:latin typeface="Aptos Display" panose="020B0004020202020204" pitchFamily="34" charset="0"/>
              </a:rPr>
              <a:t>която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потребителят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може</a:t>
            </a:r>
            <a:r>
              <a:rPr lang="ru-RU" dirty="0">
                <a:latin typeface="Aptos Display" panose="020B0004020202020204" pitchFamily="34" charset="0"/>
              </a:rPr>
              <a:t> да </a:t>
            </a:r>
            <a:r>
              <a:rPr lang="ru-RU" dirty="0" err="1">
                <a:latin typeface="Aptos Display" panose="020B0004020202020204" pitchFamily="34" charset="0"/>
              </a:rPr>
              <a:t>избере</a:t>
            </a:r>
            <a:r>
              <a:rPr lang="ru-RU" dirty="0">
                <a:latin typeface="Aptos Display" panose="020B0004020202020204" pitchFamily="34" charset="0"/>
              </a:rPr>
              <a:t> вход или нова регистрация.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 err="1">
                <a:latin typeface="Aptos Display" panose="020B0004020202020204" pitchFamily="34" charset="0"/>
              </a:rPr>
              <a:t>Налични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са</a:t>
            </a:r>
            <a:r>
              <a:rPr lang="ru-RU" dirty="0">
                <a:latin typeface="Aptos Display" panose="020B0004020202020204" pitchFamily="34" charset="0"/>
              </a:rPr>
              <a:t> и демо </a:t>
            </a:r>
            <a:r>
              <a:rPr lang="ru-RU" dirty="0" err="1">
                <a:latin typeface="Aptos Display" panose="020B0004020202020204" pitchFamily="34" charset="0"/>
              </a:rPr>
              <a:t>акаунти</a:t>
            </a:r>
            <a:r>
              <a:rPr lang="ru-RU" dirty="0">
                <a:latin typeface="Aptos Display" panose="020B0004020202020204" pitchFamily="34" charset="0"/>
              </a:rPr>
              <a:t> за </a:t>
            </a:r>
            <a:r>
              <a:rPr lang="ru-RU" dirty="0" err="1">
                <a:latin typeface="Aptos Display" panose="020B0004020202020204" pitchFamily="34" charset="0"/>
              </a:rPr>
              <a:t>бързо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тестване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различните</a:t>
            </a:r>
            <a:r>
              <a:rPr lang="ru-RU" dirty="0">
                <a:latin typeface="Aptos Display" panose="020B0004020202020204" pitchFamily="34" charset="0"/>
              </a:rPr>
              <a:t> роли – клиент, </a:t>
            </a:r>
            <a:r>
              <a:rPr lang="ru-RU" dirty="0" err="1">
                <a:latin typeface="Aptos Display" panose="020B0004020202020204" pitchFamily="34" charset="0"/>
              </a:rPr>
              <a:t>служител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собственик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62C01A0D-C59C-84E8-5CC8-0AFD2A53E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719" y="1808017"/>
            <a:ext cx="2065850" cy="2369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091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52686F5-BB31-3444-29D3-FA9EFAD2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04982"/>
          </a:xfrm>
        </p:spPr>
        <p:txBody>
          <a:bodyPr/>
          <a:lstStyle/>
          <a:p>
            <a:pPr algn="ctr"/>
            <a:r>
              <a:rPr lang="bg-BG" sz="2200" b="1" i="1" dirty="0"/>
              <a:t>Регистрация на нов клиент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3258A820-DE5F-8E67-063A-5547600625F1}"/>
              </a:ext>
            </a:extLst>
          </p:cNvPr>
          <p:cNvSpPr txBox="1"/>
          <p:nvPr/>
        </p:nvSpPr>
        <p:spPr>
          <a:xfrm>
            <a:off x="1018308" y="2021902"/>
            <a:ext cx="38307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Aptos Display" panose="020B0004020202020204" pitchFamily="34" charset="0"/>
              </a:rPr>
              <a:t>Форма</a:t>
            </a:r>
            <a:r>
              <a:rPr lang="en-US" dirty="0">
                <a:latin typeface="Aptos Display" panose="020B0004020202020204" pitchFamily="34" charset="0"/>
              </a:rPr>
              <a:t> с Email, Password, Confirm Password.</a:t>
            </a:r>
            <a:endParaRPr lang="bg-BG" dirty="0">
              <a:latin typeface="Aptos Display" panose="020B0004020202020204" pitchFamily="34" charset="0"/>
            </a:endParaRPr>
          </a:p>
          <a:p>
            <a:pPr algn="just"/>
            <a:endParaRPr lang="bg-BG" dirty="0">
              <a:latin typeface="Aptos Display" panose="020B0004020202020204" pitchFamily="34" charset="0"/>
            </a:endParaRPr>
          </a:p>
          <a:p>
            <a:pPr algn="just"/>
            <a:r>
              <a:rPr lang="ru-RU" dirty="0" err="1">
                <a:latin typeface="Aptos Display" panose="020B0004020202020204" pitchFamily="34" charset="0"/>
              </a:rPr>
              <a:t>Регистрацията</a:t>
            </a:r>
            <a:r>
              <a:rPr lang="ru-RU" dirty="0">
                <a:latin typeface="Aptos Display" panose="020B0004020202020204" pitchFamily="34" charset="0"/>
              </a:rPr>
              <a:t> е кратка и интуитивна – </a:t>
            </a:r>
            <a:r>
              <a:rPr lang="ru-RU" dirty="0" err="1">
                <a:latin typeface="Aptos Display" panose="020B0004020202020204" pitchFamily="34" charset="0"/>
              </a:rPr>
              <a:t>изисква</a:t>
            </a:r>
            <a:r>
              <a:rPr lang="ru-RU" dirty="0">
                <a:latin typeface="Aptos Display" panose="020B0004020202020204" pitchFamily="34" charset="0"/>
              </a:rPr>
              <a:t> имейл и </a:t>
            </a:r>
            <a:r>
              <a:rPr lang="ru-RU" dirty="0" err="1">
                <a:latin typeface="Aptos Display" panose="020B0004020202020204" pitchFamily="34" charset="0"/>
              </a:rPr>
              <a:t>парола</a:t>
            </a:r>
            <a:r>
              <a:rPr lang="ru-RU" dirty="0">
                <a:latin typeface="Aptos Display" panose="020B0004020202020204" pitchFamily="34" charset="0"/>
              </a:rPr>
              <a:t> с </a:t>
            </a:r>
            <a:r>
              <a:rPr lang="ru-RU" dirty="0" err="1">
                <a:latin typeface="Aptos Display" panose="020B0004020202020204" pitchFamily="34" charset="0"/>
              </a:rPr>
              <a:t>потвърждение</a:t>
            </a:r>
            <a:r>
              <a:rPr lang="ru-RU" dirty="0">
                <a:latin typeface="Aptos Display" panose="020B0004020202020204" pitchFamily="34" charset="0"/>
              </a:rPr>
              <a:t>.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>
                <a:latin typeface="Aptos Display" panose="020B0004020202020204" pitchFamily="34" charset="0"/>
              </a:rPr>
              <a:t>След </a:t>
            </a:r>
            <a:r>
              <a:rPr lang="ru-RU" dirty="0" err="1">
                <a:latin typeface="Aptos Display" panose="020B0004020202020204" pitchFamily="34" charset="0"/>
              </a:rPr>
              <a:t>създаване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акаунт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потребителят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може</a:t>
            </a:r>
            <a:r>
              <a:rPr lang="ru-RU" dirty="0">
                <a:latin typeface="Aptos Display" panose="020B0004020202020204" pitchFamily="34" charset="0"/>
              </a:rPr>
              <a:t> да </a:t>
            </a:r>
            <a:r>
              <a:rPr lang="ru-RU" dirty="0" err="1">
                <a:latin typeface="Aptos Display" panose="020B0004020202020204" pitchFamily="34" charset="0"/>
              </a:rPr>
              <a:t>започне</a:t>
            </a:r>
            <a:r>
              <a:rPr lang="ru-RU" dirty="0">
                <a:latin typeface="Aptos Display" panose="020B0004020202020204" pitchFamily="34" charset="0"/>
              </a:rPr>
              <a:t> да </a:t>
            </a:r>
            <a:r>
              <a:rPr lang="ru-RU" dirty="0" err="1">
                <a:latin typeface="Aptos Display" panose="020B0004020202020204" pitchFamily="34" charset="0"/>
              </a:rPr>
              <a:t>прави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 и да следи </a:t>
            </a:r>
            <a:r>
              <a:rPr lang="ru-RU" dirty="0" err="1">
                <a:latin typeface="Aptos Display" panose="020B0004020202020204" pitchFamily="34" charset="0"/>
              </a:rPr>
              <a:t>състоянието</a:t>
            </a:r>
            <a:r>
              <a:rPr lang="ru-RU" dirty="0">
                <a:latin typeface="Aptos Display" panose="020B0004020202020204" pitchFamily="34" charset="0"/>
              </a:rPr>
              <a:t> им в </a:t>
            </a:r>
            <a:r>
              <a:rPr lang="ru-RU" dirty="0" err="1">
                <a:latin typeface="Aptos Display" panose="020B0004020202020204" pitchFamily="34" charset="0"/>
              </a:rPr>
              <a:t>личния</a:t>
            </a:r>
            <a:r>
              <a:rPr lang="ru-RU" dirty="0">
                <a:latin typeface="Aptos Display" panose="020B0004020202020204" pitchFamily="34" charset="0"/>
              </a:rPr>
              <a:t> си </a:t>
            </a:r>
            <a:r>
              <a:rPr lang="ru-RU" dirty="0" err="1">
                <a:latin typeface="Aptos Display" panose="020B0004020202020204" pitchFamily="34" charset="0"/>
              </a:rPr>
              <a:t>профил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EAE2AB19-A2DB-358C-880B-96E7EED4F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894" y="1687286"/>
            <a:ext cx="2513633" cy="27149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5742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17D1C63-CD47-EC2C-860D-B242AF8A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04982"/>
          </a:xfrm>
        </p:spPr>
        <p:txBody>
          <a:bodyPr/>
          <a:lstStyle/>
          <a:p>
            <a:pPr algn="ctr"/>
            <a:r>
              <a:rPr lang="bg-BG" sz="2200" b="1" i="1" dirty="0"/>
              <a:t>Клиент: „Нова поръчка“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92A7787-0C19-8648-830C-80FF42DF4F00}"/>
              </a:ext>
            </a:extLst>
          </p:cNvPr>
          <p:cNvSpPr txBox="1"/>
          <p:nvPr/>
        </p:nvSpPr>
        <p:spPr>
          <a:xfrm>
            <a:off x="1007918" y="1316181"/>
            <a:ext cx="2902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err="1">
                <a:latin typeface="Aptos Display" panose="020B0004020202020204" pitchFamily="34" charset="0"/>
              </a:rPr>
              <a:t>Екранът</a:t>
            </a:r>
            <a:r>
              <a:rPr lang="ru-RU" dirty="0">
                <a:latin typeface="Aptos Display" panose="020B0004020202020204" pitchFamily="34" charset="0"/>
              </a:rPr>
              <a:t> за нова </a:t>
            </a:r>
            <a:r>
              <a:rPr lang="ru-RU" dirty="0" err="1">
                <a:latin typeface="Aptos Display" panose="020B0004020202020204" pitchFamily="34" charset="0"/>
              </a:rPr>
              <a:t>поръчка</a:t>
            </a:r>
            <a:r>
              <a:rPr lang="ru-RU" dirty="0">
                <a:latin typeface="Aptos Display" panose="020B0004020202020204" pitchFamily="34" charset="0"/>
              </a:rPr>
              <a:t> позволява </a:t>
            </a:r>
            <a:r>
              <a:rPr lang="ru-RU" dirty="0" err="1">
                <a:latin typeface="Aptos Display" panose="020B0004020202020204" pitchFamily="34" charset="0"/>
              </a:rPr>
              <a:t>структуриран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избор</a:t>
            </a:r>
            <a:r>
              <a:rPr lang="ru-RU" dirty="0">
                <a:latin typeface="Aptos Display" panose="020B0004020202020204" pitchFamily="34" charset="0"/>
              </a:rPr>
              <a:t> на продукт чрез </a:t>
            </a:r>
            <a:r>
              <a:rPr lang="ru-RU" dirty="0" err="1">
                <a:latin typeface="Aptos Display" panose="020B0004020202020204" pitchFamily="34" charset="0"/>
              </a:rPr>
              <a:t>филтри</a:t>
            </a:r>
            <a:r>
              <a:rPr lang="ru-RU" dirty="0">
                <a:latin typeface="Aptos Display" panose="020B0004020202020204" pitchFamily="34" charset="0"/>
              </a:rPr>
              <a:t> по тип, вкус и </a:t>
            </a:r>
            <a:r>
              <a:rPr lang="ru-RU" dirty="0" err="1">
                <a:latin typeface="Aptos Display" panose="020B0004020202020204" pitchFamily="34" charset="0"/>
              </a:rPr>
              <a:t>разфасовка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C9A9B3E-7DE1-907F-B917-76BBA0F2C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2571750"/>
            <a:ext cx="4059382" cy="19994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35E44F00-E8FC-D761-7DFC-A6FB8DB74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419" y="2505350"/>
            <a:ext cx="3865581" cy="2103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29F438C1-CCEE-73A9-4DC5-3F391BA882A9}"/>
              </a:ext>
            </a:extLst>
          </p:cNvPr>
          <p:cNvSpPr txBox="1"/>
          <p:nvPr/>
        </p:nvSpPr>
        <p:spPr>
          <a:xfrm>
            <a:off x="5150264" y="1316182"/>
            <a:ext cx="3359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err="1">
                <a:latin typeface="Aptos Display" panose="020B0004020202020204" pitchFamily="34" charset="0"/>
              </a:rPr>
              <a:t>Добавянето</a:t>
            </a:r>
            <a:r>
              <a:rPr lang="ru-RU" dirty="0">
                <a:latin typeface="Aptos Display" panose="020B0004020202020204" pitchFamily="34" charset="0"/>
              </a:rPr>
              <a:t> на артикул става с един бутон, а </a:t>
            </a:r>
            <a:r>
              <a:rPr lang="ru-RU" dirty="0" err="1">
                <a:latin typeface="Aptos Display" panose="020B0004020202020204" pitchFamily="34" charset="0"/>
              </a:rPr>
              <a:t>системата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визуализира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избора</a:t>
            </a:r>
            <a:r>
              <a:rPr lang="ru-RU" dirty="0">
                <a:latin typeface="Aptos Display" panose="020B0004020202020204" pitchFamily="34" charset="0"/>
              </a:rPr>
              <a:t> в </a:t>
            </a:r>
            <a:r>
              <a:rPr lang="ru-RU" dirty="0" err="1">
                <a:latin typeface="Aptos Display" panose="020B0004020202020204" pitchFamily="34" charset="0"/>
              </a:rPr>
              <a:t>реално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време</a:t>
            </a:r>
            <a:r>
              <a:rPr lang="ru-RU" dirty="0">
                <a:latin typeface="Aptos Display" panose="020B0004020202020204" pitchFamily="34" charset="0"/>
              </a:rPr>
              <a:t> за </a:t>
            </a:r>
            <a:r>
              <a:rPr lang="ru-RU" dirty="0" err="1">
                <a:latin typeface="Aptos Display" panose="020B0004020202020204" pitchFamily="34" charset="0"/>
              </a:rPr>
              <a:t>по-ясен</a:t>
            </a:r>
            <a:r>
              <a:rPr lang="ru-RU" dirty="0">
                <a:latin typeface="Aptos Display" panose="020B0004020202020204" pitchFamily="34" charset="0"/>
              </a:rPr>
              <a:t> контрол </a:t>
            </a:r>
            <a:r>
              <a:rPr lang="ru-RU" dirty="0" err="1">
                <a:latin typeface="Aptos Display" panose="020B0004020202020204" pitchFamily="34" charset="0"/>
              </a:rPr>
              <a:t>преди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изпращане</a:t>
            </a:r>
            <a:r>
              <a:rPr lang="ru-RU" dirty="0">
                <a:latin typeface="Aptos Display" panose="020B0004020202020204" pitchFamily="34" charset="0"/>
              </a:rPr>
              <a:t>.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181A0654-FD46-10A1-641E-C42F53DD00F9}"/>
              </a:ext>
            </a:extLst>
          </p:cNvPr>
          <p:cNvSpPr txBox="1"/>
          <p:nvPr/>
        </p:nvSpPr>
        <p:spPr>
          <a:xfrm>
            <a:off x="4509573" y="3403036"/>
            <a:ext cx="367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ym typeface="Wingdings" panose="05000000000000000000" pitchFamily="2" charset="2"/>
              </a:rPr>
              <a:t>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9342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25FE590-E5DF-4961-63E0-F1C4E3D0F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81182"/>
          </a:xfrm>
        </p:spPr>
        <p:txBody>
          <a:bodyPr/>
          <a:lstStyle/>
          <a:p>
            <a:pPr algn="ctr"/>
            <a:r>
              <a:rPr lang="bg-BG" sz="2200" b="1" i="1" dirty="0"/>
              <a:t>Клиент: бизнес поръчка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7D52D816-CFD3-7805-436D-BE4518E471D6}"/>
              </a:ext>
            </a:extLst>
          </p:cNvPr>
          <p:cNvSpPr txBox="1"/>
          <p:nvPr/>
        </p:nvSpPr>
        <p:spPr>
          <a:xfrm>
            <a:off x="845128" y="1780309"/>
            <a:ext cx="41355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Чекбокс „За бизнес“, полета ЕИК и адрес за фактура.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>
                <a:latin typeface="Aptos Display" panose="020B0004020202020204" pitchFamily="34" charset="0"/>
              </a:rPr>
              <a:t>При бизнес заявка </a:t>
            </a:r>
            <a:r>
              <a:rPr lang="ru-RU" dirty="0" err="1">
                <a:latin typeface="Aptos Display" panose="020B0004020202020204" pitchFamily="34" charset="0"/>
              </a:rPr>
              <a:t>клиентът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включва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специален</a:t>
            </a:r>
            <a:r>
              <a:rPr lang="ru-RU" dirty="0">
                <a:latin typeface="Aptos Display" panose="020B0004020202020204" pitchFamily="34" charset="0"/>
              </a:rPr>
              <a:t> режим, </a:t>
            </a:r>
            <a:r>
              <a:rPr lang="ru-RU" dirty="0" err="1">
                <a:latin typeface="Aptos Display" panose="020B0004020202020204" pitchFamily="34" charset="0"/>
              </a:rPr>
              <a:t>който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отваря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допълнителни</a:t>
            </a:r>
            <a:r>
              <a:rPr lang="ru-RU" dirty="0">
                <a:latin typeface="Aptos Display" panose="020B0004020202020204" pitchFamily="34" charset="0"/>
              </a:rPr>
              <a:t> полета за </a:t>
            </a:r>
            <a:r>
              <a:rPr lang="ru-RU" dirty="0" err="1">
                <a:latin typeface="Aptos Display" panose="020B0004020202020204" pitchFamily="34" charset="0"/>
              </a:rPr>
              <a:t>фирмени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данни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>
                <a:latin typeface="Aptos Display" panose="020B0004020202020204" pitchFamily="34" charset="0"/>
              </a:rPr>
              <a:t>Така </a:t>
            </a:r>
            <a:r>
              <a:rPr lang="ru-RU" dirty="0" err="1">
                <a:latin typeface="Aptos Display" panose="020B0004020202020204" pitchFamily="34" charset="0"/>
              </a:rPr>
              <a:t>платформата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поддържа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както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индивидуални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така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корпоративни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 с </a:t>
            </a:r>
            <a:r>
              <a:rPr lang="ru-RU" dirty="0" err="1">
                <a:latin typeface="Aptos Display" panose="020B0004020202020204" pitchFamily="34" charset="0"/>
              </a:rPr>
              <a:t>необходимите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данни</a:t>
            </a:r>
            <a:r>
              <a:rPr lang="ru-RU" dirty="0">
                <a:latin typeface="Aptos Display" panose="020B0004020202020204" pitchFamily="34" charset="0"/>
              </a:rPr>
              <a:t> за </a:t>
            </a:r>
            <a:r>
              <a:rPr lang="ru-RU" dirty="0" err="1">
                <a:latin typeface="Aptos Display" panose="020B0004020202020204" pitchFamily="34" charset="0"/>
              </a:rPr>
              <a:t>фактуриране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B07BBA6B-6F8A-9A80-B13C-5251EFBA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610" y="1382156"/>
            <a:ext cx="1988190" cy="31570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9114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610BBFC-0B47-4498-833B-5DFBE49DD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1002855"/>
          </a:xfrm>
        </p:spPr>
        <p:txBody>
          <a:bodyPr/>
          <a:lstStyle/>
          <a:p>
            <a:pPr algn="ctr"/>
            <a:r>
              <a:rPr lang="bg-BG" sz="2200" b="1" i="1" dirty="0"/>
              <a:t>Клиент: изпращане на поръчка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3E50F834-8AEA-E56C-ECBC-E615BD2F4FD8}"/>
              </a:ext>
            </a:extLst>
          </p:cNvPr>
          <p:cNvSpPr txBox="1"/>
          <p:nvPr/>
        </p:nvSpPr>
        <p:spPr>
          <a:xfrm>
            <a:off x="1073727" y="2133600"/>
            <a:ext cx="375458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err="1">
                <a:latin typeface="Aptos Display" panose="020B0004020202020204" pitchFamily="34" charset="0"/>
              </a:rPr>
              <a:t>Преди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финализиране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клиентът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преглежда</a:t>
            </a:r>
            <a:r>
              <a:rPr lang="ru-RU" dirty="0">
                <a:latin typeface="Aptos Display" panose="020B0004020202020204" pitchFamily="34" charset="0"/>
              </a:rPr>
              <a:t> обобщение на </a:t>
            </a:r>
            <a:r>
              <a:rPr lang="ru-RU" dirty="0" err="1">
                <a:latin typeface="Aptos Display" panose="020B0004020202020204" pitchFamily="34" charset="0"/>
              </a:rPr>
              <a:t>поръчката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избира</a:t>
            </a:r>
            <a:r>
              <a:rPr lang="ru-RU" dirty="0">
                <a:latin typeface="Aptos Display" panose="020B0004020202020204" pitchFamily="34" charset="0"/>
              </a:rPr>
              <a:t> метод на </a:t>
            </a:r>
            <a:r>
              <a:rPr lang="ru-RU" dirty="0" err="1">
                <a:latin typeface="Aptos Display" panose="020B0004020202020204" pitchFamily="34" charset="0"/>
              </a:rPr>
              <a:t>плащане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потвърждава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заявката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>
                <a:latin typeface="Aptos Display" panose="020B0004020202020204" pitchFamily="34" charset="0"/>
              </a:rPr>
              <a:t>След </a:t>
            </a:r>
            <a:r>
              <a:rPr lang="ru-RU" dirty="0" err="1">
                <a:latin typeface="Aptos Display" panose="020B0004020202020204" pitchFamily="34" charset="0"/>
              </a:rPr>
              <a:t>изпращане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системата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записва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поръчката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със</a:t>
            </a:r>
            <a:r>
              <a:rPr lang="ru-RU" dirty="0">
                <a:latin typeface="Aptos Display" panose="020B0004020202020204" pitchFamily="34" charset="0"/>
              </a:rPr>
              <a:t> статус „</a:t>
            </a:r>
            <a:r>
              <a:rPr lang="ru-RU" dirty="0" err="1">
                <a:latin typeface="Aptos Display" panose="020B0004020202020204" pitchFamily="34" charset="0"/>
              </a:rPr>
              <a:t>чакаща</a:t>
            </a:r>
            <a:r>
              <a:rPr lang="ru-RU" dirty="0">
                <a:latin typeface="Aptos Display" panose="020B0004020202020204" pitchFamily="34" charset="0"/>
              </a:rPr>
              <a:t>“ и </a:t>
            </a:r>
            <a:r>
              <a:rPr lang="ru-RU" dirty="0" err="1">
                <a:latin typeface="Aptos Display" panose="020B0004020202020204" pitchFamily="34" charset="0"/>
              </a:rPr>
              <a:t>показва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потвърждение</a:t>
            </a:r>
            <a:r>
              <a:rPr lang="ru-RU" dirty="0">
                <a:latin typeface="Aptos Display" panose="020B0004020202020204" pitchFamily="34" charset="0"/>
              </a:rPr>
              <a:t> за успешно действие.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47C60E31-1CF0-8BF0-BF6F-BBA2CD637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103" y="1603828"/>
            <a:ext cx="2688947" cy="29445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259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33EDC81-CC4B-8F55-BFF1-E559F8C8E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892018"/>
          </a:xfrm>
        </p:spPr>
        <p:txBody>
          <a:bodyPr/>
          <a:lstStyle/>
          <a:p>
            <a:pPr algn="ctr"/>
            <a:r>
              <a:rPr lang="bg-BG" sz="2200" b="1" i="1" dirty="0"/>
              <a:t>Клиент: „Моите поръчки“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4928C99A-8A91-683B-4595-AE9440C20F90}"/>
              </a:ext>
            </a:extLst>
          </p:cNvPr>
          <p:cNvSpPr txBox="1"/>
          <p:nvPr/>
        </p:nvSpPr>
        <p:spPr>
          <a:xfrm>
            <a:off x="547255" y="1951796"/>
            <a:ext cx="2667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В „</a:t>
            </a:r>
            <a:r>
              <a:rPr lang="ru-RU" dirty="0" err="1">
                <a:latin typeface="Aptos Display" panose="020B0004020202020204" pitchFamily="34" charset="0"/>
              </a:rPr>
              <a:t>Моите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“ </a:t>
            </a:r>
            <a:r>
              <a:rPr lang="ru-RU" dirty="0" err="1">
                <a:latin typeface="Aptos Display" panose="020B0004020202020204" pitchFamily="34" charset="0"/>
              </a:rPr>
              <a:t>клиентът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получава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пълна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проследимост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всички</a:t>
            </a:r>
            <a:r>
              <a:rPr lang="ru-RU" dirty="0">
                <a:latin typeface="Aptos Display" panose="020B0004020202020204" pitchFamily="34" charset="0"/>
              </a:rPr>
              <a:t> заявки.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 err="1">
                <a:latin typeface="Aptos Display" panose="020B0004020202020204" pitchFamily="34" charset="0"/>
              </a:rPr>
              <a:t>Виждат</a:t>
            </a:r>
            <a:r>
              <a:rPr lang="ru-RU" dirty="0">
                <a:latin typeface="Aptos Display" panose="020B0004020202020204" pitchFamily="34" charset="0"/>
              </a:rPr>
              <a:t> се </a:t>
            </a:r>
            <a:r>
              <a:rPr lang="ru-RU" dirty="0" err="1">
                <a:latin typeface="Aptos Display" panose="020B0004020202020204" pitchFamily="34" charset="0"/>
              </a:rPr>
              <a:t>текущият</a:t>
            </a:r>
            <a:r>
              <a:rPr lang="ru-RU" dirty="0">
                <a:latin typeface="Aptos Display" panose="020B0004020202020204" pitchFamily="34" charset="0"/>
              </a:rPr>
              <a:t> статус, </a:t>
            </a:r>
            <a:r>
              <a:rPr lang="ru-RU" dirty="0" err="1">
                <a:latin typeface="Aptos Display" panose="020B0004020202020204" pitchFamily="34" charset="0"/>
              </a:rPr>
              <a:t>детайлите</a:t>
            </a:r>
            <a:r>
              <a:rPr lang="ru-RU" dirty="0">
                <a:latin typeface="Aptos Display" panose="020B0004020202020204" pitchFamily="34" charset="0"/>
              </a:rPr>
              <a:t> по </a:t>
            </a:r>
            <a:r>
              <a:rPr lang="ru-RU" dirty="0" err="1">
                <a:latin typeface="Aptos Display" panose="020B0004020202020204" pitchFamily="34" charset="0"/>
              </a:rPr>
              <a:t>артикули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крайната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стойност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което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улеснява</a:t>
            </a:r>
            <a:r>
              <a:rPr lang="ru-RU" dirty="0">
                <a:latin typeface="Aptos Display" panose="020B0004020202020204" pitchFamily="34" charset="0"/>
              </a:rPr>
              <a:t> контрола и </a:t>
            </a:r>
            <a:r>
              <a:rPr lang="ru-RU" dirty="0" err="1">
                <a:latin typeface="Aptos Display" panose="020B0004020202020204" pitchFamily="34" charset="0"/>
              </a:rPr>
              <a:t>повторното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поръчване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CEC87D0F-86F8-9F4E-4982-F0B6C4D74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020" y="1794164"/>
            <a:ext cx="5276889" cy="23465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5126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7D2804E-3A98-E8F3-0D06-BA137CDB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961291"/>
          </a:xfrm>
        </p:spPr>
        <p:txBody>
          <a:bodyPr/>
          <a:lstStyle/>
          <a:p>
            <a:pPr algn="ctr"/>
            <a:r>
              <a:rPr lang="bg-BG" sz="2200" b="1" i="1" dirty="0"/>
              <a:t>Служител: табло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49C446B6-15D7-93DB-E7CE-F95332FF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57" y="1561069"/>
            <a:ext cx="4463289" cy="30474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35D42A89-608B-50F0-4F55-2822AF701352}"/>
              </a:ext>
            </a:extLst>
          </p:cNvPr>
          <p:cNvSpPr txBox="1"/>
          <p:nvPr/>
        </p:nvSpPr>
        <p:spPr>
          <a:xfrm>
            <a:off x="5493656" y="1995384"/>
            <a:ext cx="31858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KPI </a:t>
            </a:r>
            <a:r>
              <a:rPr lang="ru-RU" dirty="0" err="1">
                <a:latin typeface="Aptos Display" panose="020B0004020202020204" pitchFamily="34" charset="0"/>
              </a:rPr>
              <a:t>карти</a:t>
            </a:r>
            <a:r>
              <a:rPr lang="ru-RU" dirty="0">
                <a:latin typeface="Aptos Display" panose="020B0004020202020204" pitchFamily="34" charset="0"/>
              </a:rPr>
              <a:t> – </a:t>
            </a:r>
            <a:r>
              <a:rPr lang="ru-RU" dirty="0" err="1">
                <a:latin typeface="Aptos Display" panose="020B0004020202020204" pitchFamily="34" charset="0"/>
              </a:rPr>
              <a:t>чакащи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ниска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наличност</a:t>
            </a:r>
            <a:r>
              <a:rPr lang="ru-RU" dirty="0">
                <a:latin typeface="Aptos Display" panose="020B0004020202020204" pitchFamily="34" charset="0"/>
              </a:rPr>
              <a:t>, операции за </a:t>
            </a:r>
            <a:r>
              <a:rPr lang="ru-RU" dirty="0" err="1">
                <a:latin typeface="Aptos Display" panose="020B0004020202020204" pitchFamily="34" charset="0"/>
              </a:rPr>
              <a:t>деня</a:t>
            </a:r>
            <a:r>
              <a:rPr lang="ru-RU" dirty="0">
                <a:latin typeface="Aptos Display" panose="020B0004020202020204" pitchFamily="34" charset="0"/>
              </a:rPr>
              <a:t>.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 err="1">
                <a:latin typeface="Aptos Display" panose="020B0004020202020204" pitchFamily="34" charset="0"/>
              </a:rPr>
              <a:t>Служебното</a:t>
            </a:r>
            <a:r>
              <a:rPr lang="ru-RU" dirty="0">
                <a:latin typeface="Aptos Display" panose="020B0004020202020204" pitchFamily="34" charset="0"/>
              </a:rPr>
              <a:t> табло </a:t>
            </a:r>
            <a:r>
              <a:rPr lang="ru-RU" dirty="0" err="1">
                <a:latin typeface="Aptos Display" panose="020B0004020202020204" pitchFamily="34" charset="0"/>
              </a:rPr>
              <a:t>събира</a:t>
            </a:r>
            <a:r>
              <a:rPr lang="ru-RU" dirty="0">
                <a:latin typeface="Aptos Display" panose="020B0004020202020204" pitchFamily="34" charset="0"/>
              </a:rPr>
              <a:t> най-</a:t>
            </a:r>
            <a:r>
              <a:rPr lang="ru-RU" dirty="0" err="1">
                <a:latin typeface="Aptos Display" panose="020B0004020202020204" pitchFamily="34" charset="0"/>
              </a:rPr>
              <a:t>важните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оперативни</a:t>
            </a:r>
            <a:r>
              <a:rPr lang="ru-RU" dirty="0">
                <a:latin typeface="Aptos Display" panose="020B0004020202020204" pitchFamily="34" charset="0"/>
              </a:rPr>
              <a:t> показатели в един </a:t>
            </a:r>
            <a:r>
              <a:rPr lang="ru-RU" dirty="0" err="1">
                <a:latin typeface="Aptos Display" panose="020B0004020202020204" pitchFamily="34" charset="0"/>
              </a:rPr>
              <a:t>екран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 err="1">
                <a:latin typeface="Aptos Display" panose="020B0004020202020204" pitchFamily="34" charset="0"/>
              </a:rPr>
              <a:t>Екипът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вижда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натоварването</a:t>
            </a:r>
            <a:r>
              <a:rPr lang="ru-RU" dirty="0">
                <a:latin typeface="Aptos Display" panose="020B0004020202020204" pitchFamily="34" charset="0"/>
              </a:rPr>
              <a:t> в </a:t>
            </a:r>
            <a:r>
              <a:rPr lang="ru-RU" dirty="0" err="1">
                <a:latin typeface="Aptos Display" panose="020B0004020202020204" pitchFamily="34" charset="0"/>
              </a:rPr>
              <a:t>реално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време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може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веднага</a:t>
            </a:r>
            <a:r>
              <a:rPr lang="ru-RU" dirty="0">
                <a:latin typeface="Aptos Display" panose="020B0004020202020204" pitchFamily="34" charset="0"/>
              </a:rPr>
              <a:t> да </a:t>
            </a:r>
            <a:r>
              <a:rPr lang="ru-RU" dirty="0" err="1">
                <a:latin typeface="Aptos Display" panose="020B0004020202020204" pitchFamily="34" charset="0"/>
              </a:rPr>
              <a:t>приоритизира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действията</a:t>
            </a:r>
            <a:r>
              <a:rPr lang="ru-RU" dirty="0">
                <a:latin typeface="Aptos Display" panose="020B0004020202020204" pitchFamily="34" charset="0"/>
              </a:rPr>
              <a:t> по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 и склад.</a:t>
            </a:r>
            <a:endParaRPr lang="bg-BG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925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5606A0A-6C8A-3A3C-A582-18DF1AF4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53473"/>
          </a:xfrm>
        </p:spPr>
        <p:txBody>
          <a:bodyPr/>
          <a:lstStyle/>
          <a:p>
            <a:pPr algn="ctr"/>
            <a:r>
              <a:rPr lang="bg-BG" sz="2200" b="1" i="1" dirty="0"/>
              <a:t>Служител: „Чакащи поръчки“</a:t>
            </a: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79B546FC-CDD9-1FAC-F1F9-9AE56230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4" y="1551013"/>
            <a:ext cx="5025736" cy="17659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F763BA87-5F91-73FA-E438-26B18628AACC}"/>
              </a:ext>
            </a:extLst>
          </p:cNvPr>
          <p:cNvSpPr txBox="1"/>
          <p:nvPr/>
        </p:nvSpPr>
        <p:spPr>
          <a:xfrm>
            <a:off x="6095999" y="1710367"/>
            <a:ext cx="23968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Карти на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 с </a:t>
            </a:r>
            <a:r>
              <a:rPr lang="ru-RU" dirty="0" err="1">
                <a:latin typeface="Aptos Display" panose="020B0004020202020204" pitchFamily="34" charset="0"/>
              </a:rPr>
              <a:t>бутони</a:t>
            </a:r>
            <a:r>
              <a:rPr lang="ru-RU" dirty="0">
                <a:latin typeface="Aptos Display" panose="020B0004020202020204" pitchFamily="34" charset="0"/>
              </a:rPr>
              <a:t> „Одобри“ и „Откажи“.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 err="1">
                <a:latin typeface="Aptos Display" panose="020B0004020202020204" pitchFamily="34" charset="0"/>
              </a:rPr>
              <a:t>Модулът</a:t>
            </a:r>
            <a:r>
              <a:rPr lang="ru-RU" dirty="0">
                <a:latin typeface="Aptos Display" panose="020B0004020202020204" pitchFamily="34" charset="0"/>
              </a:rPr>
              <a:t> за </a:t>
            </a:r>
            <a:r>
              <a:rPr lang="ru-RU" dirty="0" err="1">
                <a:latin typeface="Aptos Display" panose="020B0004020202020204" pitchFamily="34" charset="0"/>
              </a:rPr>
              <a:t>чакащи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подпомага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бързо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вземане</a:t>
            </a:r>
            <a:r>
              <a:rPr lang="ru-RU" dirty="0">
                <a:latin typeface="Aptos Display" panose="020B0004020202020204" pitchFamily="34" charset="0"/>
              </a:rPr>
              <a:t> на решение за всяка заявка.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 err="1">
                <a:latin typeface="Aptos Display" panose="020B0004020202020204" pitchFamily="34" charset="0"/>
              </a:rPr>
              <a:t>Служителят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може</a:t>
            </a:r>
            <a:r>
              <a:rPr lang="ru-RU" dirty="0">
                <a:latin typeface="Aptos Display" panose="020B0004020202020204" pitchFamily="34" charset="0"/>
              </a:rPr>
              <a:t> да одобри </a:t>
            </a:r>
            <a:r>
              <a:rPr lang="ru-RU" dirty="0" err="1">
                <a:latin typeface="Aptos Display" panose="020B0004020202020204" pitchFamily="34" charset="0"/>
              </a:rPr>
              <a:t>поръчката</a:t>
            </a:r>
            <a:r>
              <a:rPr lang="ru-RU" dirty="0">
                <a:latin typeface="Aptos Display" panose="020B0004020202020204" pitchFamily="34" charset="0"/>
              </a:rPr>
              <a:t> или да я </a:t>
            </a:r>
            <a:r>
              <a:rPr lang="ru-RU" dirty="0" err="1">
                <a:latin typeface="Aptos Display" panose="020B0004020202020204" pitchFamily="34" charset="0"/>
              </a:rPr>
              <a:t>откаже</a:t>
            </a:r>
            <a:r>
              <a:rPr lang="ru-RU" dirty="0">
                <a:latin typeface="Aptos Display" panose="020B0004020202020204" pitchFamily="34" charset="0"/>
              </a:rPr>
              <a:t> с </a:t>
            </a:r>
            <a:r>
              <a:rPr lang="ru-RU" dirty="0" err="1">
                <a:latin typeface="Aptos Display" panose="020B0004020202020204" pitchFamily="34" charset="0"/>
              </a:rPr>
              <a:t>обосновка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като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статусът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веднага</a:t>
            </a:r>
            <a:r>
              <a:rPr lang="ru-RU" dirty="0">
                <a:latin typeface="Aptos Display" panose="020B0004020202020204" pitchFamily="34" charset="0"/>
              </a:rPr>
              <a:t> се </a:t>
            </a:r>
            <a:r>
              <a:rPr lang="ru-RU" dirty="0" err="1">
                <a:latin typeface="Aptos Display" panose="020B0004020202020204" pitchFamily="34" charset="0"/>
              </a:rPr>
              <a:t>актуализира</a:t>
            </a:r>
            <a:r>
              <a:rPr lang="ru-RU" dirty="0">
                <a:latin typeface="Aptos Display" panose="020B0004020202020204" pitchFamily="34" charset="0"/>
              </a:rPr>
              <a:t> в </a:t>
            </a:r>
            <a:r>
              <a:rPr lang="ru-RU" dirty="0" err="1">
                <a:latin typeface="Aptos Display" panose="020B0004020202020204" pitchFamily="34" charset="0"/>
              </a:rPr>
              <a:t>системата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3E15FFFD-BBBF-B2DB-CDA2-765CB47CC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54" y="3524056"/>
            <a:ext cx="5025736" cy="12785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568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494BDF9-91E6-0723-DC8C-D9936C447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808891"/>
          </a:xfrm>
        </p:spPr>
        <p:txBody>
          <a:bodyPr/>
          <a:lstStyle/>
          <a:p>
            <a:pPr algn="ctr"/>
            <a:r>
              <a:rPr lang="bg-BG" sz="2200" b="1" i="1" dirty="0"/>
              <a:t>Служител: история + редакция</a:t>
            </a: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4E9A10B1-6E36-B428-EE80-411618D5E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56" y="1683476"/>
            <a:ext cx="3906157" cy="27343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62967585-D456-C7D8-5413-B35CC44B0A3F}"/>
              </a:ext>
            </a:extLst>
          </p:cNvPr>
          <p:cNvSpPr txBox="1"/>
          <p:nvPr/>
        </p:nvSpPr>
        <p:spPr>
          <a:xfrm>
            <a:off x="1059872" y="2085689"/>
            <a:ext cx="28886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Aptos Display" panose="020B0004020202020204" pitchFamily="34" charset="0"/>
              </a:rPr>
              <a:t>Историята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поръчките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дава</a:t>
            </a:r>
            <a:r>
              <a:rPr lang="ru-RU" dirty="0">
                <a:latin typeface="Aptos Display" panose="020B0004020202020204" pitchFamily="34" charset="0"/>
              </a:rPr>
              <a:t> ясен архив на </a:t>
            </a:r>
            <a:r>
              <a:rPr lang="ru-RU" dirty="0" err="1">
                <a:latin typeface="Aptos Display" panose="020B0004020202020204" pitchFamily="34" charset="0"/>
              </a:rPr>
              <a:t>обработените</a:t>
            </a:r>
            <a:r>
              <a:rPr lang="ru-RU" dirty="0">
                <a:latin typeface="Aptos Display" panose="020B0004020202020204" pitchFamily="34" charset="0"/>
              </a:rPr>
              <a:t> заявки.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>
                <a:latin typeface="Aptos Display" panose="020B0004020202020204" pitchFamily="34" charset="0"/>
              </a:rPr>
              <a:t>При </a:t>
            </a:r>
            <a:r>
              <a:rPr lang="ru-RU" dirty="0" err="1">
                <a:latin typeface="Aptos Display" panose="020B0004020202020204" pitchFamily="34" charset="0"/>
              </a:rPr>
              <a:t>позволени</a:t>
            </a:r>
            <a:r>
              <a:rPr lang="ru-RU" dirty="0">
                <a:latin typeface="Aptos Display" panose="020B0004020202020204" pitchFamily="34" charset="0"/>
              </a:rPr>
              <a:t> случаи </a:t>
            </a:r>
            <a:r>
              <a:rPr lang="ru-RU" dirty="0" err="1">
                <a:latin typeface="Aptos Display" panose="020B0004020202020204" pitchFamily="34" charset="0"/>
              </a:rPr>
              <a:t>служителят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може</a:t>
            </a:r>
            <a:r>
              <a:rPr lang="ru-RU" dirty="0">
                <a:latin typeface="Aptos Display" panose="020B0004020202020204" pitchFamily="34" charset="0"/>
              </a:rPr>
              <a:t> да отвори форма за редакция и да </a:t>
            </a:r>
            <a:r>
              <a:rPr lang="ru-RU" dirty="0" err="1">
                <a:latin typeface="Aptos Display" panose="020B0004020202020204" pitchFamily="34" charset="0"/>
              </a:rPr>
              <a:t>коригира</a:t>
            </a:r>
            <a:r>
              <a:rPr lang="ru-RU" dirty="0">
                <a:latin typeface="Aptos Display" panose="020B0004020202020204" pitchFamily="34" charset="0"/>
              </a:rPr>
              <a:t> количества или </a:t>
            </a:r>
            <a:r>
              <a:rPr lang="ru-RU" dirty="0" err="1">
                <a:latin typeface="Aptos Display" panose="020B0004020202020204" pitchFamily="34" charset="0"/>
              </a:rPr>
              <a:t>клиентски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данни</a:t>
            </a:r>
            <a:r>
              <a:rPr lang="ru-RU" dirty="0">
                <a:latin typeface="Aptos Display" panose="020B0004020202020204" pitchFamily="34" charset="0"/>
              </a:rPr>
              <a:t>, без да </a:t>
            </a:r>
            <a:r>
              <a:rPr lang="ru-RU" dirty="0" err="1">
                <a:latin typeface="Aptos Display" panose="020B0004020202020204" pitchFamily="34" charset="0"/>
              </a:rPr>
              <a:t>нарушава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проследимостта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432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204F79D-E692-24A1-B583-C3059A516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691127"/>
          </a:xfrm>
        </p:spPr>
        <p:txBody>
          <a:bodyPr/>
          <a:lstStyle/>
          <a:p>
            <a:pPr algn="ctr"/>
            <a:r>
              <a:rPr lang="bg-BG" sz="2200" b="1" i="1" dirty="0"/>
              <a:t>Служител: нова поръчка (авто-одобрение)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B4E75220-D426-B95A-8091-B7E083CA9CCE}"/>
              </a:ext>
            </a:extLst>
          </p:cNvPr>
          <p:cNvSpPr txBox="1"/>
          <p:nvPr/>
        </p:nvSpPr>
        <p:spPr>
          <a:xfrm>
            <a:off x="574104" y="1575929"/>
            <a:ext cx="36160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Aptos Display" panose="020B0004020202020204" pitchFamily="34" charset="0"/>
              </a:rPr>
              <a:t>Служителят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разполага</a:t>
            </a:r>
            <a:r>
              <a:rPr lang="ru-RU" dirty="0">
                <a:latin typeface="Aptos Display" panose="020B0004020202020204" pitchFamily="34" charset="0"/>
              </a:rPr>
              <a:t> и с режим за </a:t>
            </a:r>
            <a:r>
              <a:rPr lang="ru-RU" dirty="0" err="1">
                <a:latin typeface="Aptos Display" panose="020B0004020202020204" pitchFamily="34" charset="0"/>
              </a:rPr>
              <a:t>бързо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въвеждане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поръчка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когато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заявката</a:t>
            </a:r>
            <a:r>
              <a:rPr lang="ru-RU" dirty="0">
                <a:latin typeface="Aptos Display" panose="020B0004020202020204" pitchFamily="34" charset="0"/>
              </a:rPr>
              <a:t> е </a:t>
            </a:r>
            <a:r>
              <a:rPr lang="ru-RU" dirty="0" err="1">
                <a:latin typeface="Aptos Display" panose="020B0004020202020204" pitchFamily="34" charset="0"/>
              </a:rPr>
              <a:t>приета</a:t>
            </a:r>
            <a:r>
              <a:rPr lang="ru-RU" dirty="0">
                <a:latin typeface="Aptos Display" panose="020B0004020202020204" pitchFamily="34" charset="0"/>
              </a:rPr>
              <a:t> по телефон или на </a:t>
            </a:r>
            <a:r>
              <a:rPr lang="ru-RU" dirty="0" err="1">
                <a:latin typeface="Aptos Display" panose="020B0004020202020204" pitchFamily="34" charset="0"/>
              </a:rPr>
              <a:t>място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82099878-C1CE-55D3-1A9C-01AD7389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38" y="2481316"/>
            <a:ext cx="4018166" cy="23956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3CACD4DF-B142-AE30-3655-6A46FF280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910" y="1503197"/>
            <a:ext cx="4018449" cy="20809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4EDD243D-15B9-3CC8-067B-8DBC2EC205CD}"/>
              </a:ext>
            </a:extLst>
          </p:cNvPr>
          <p:cNvSpPr txBox="1"/>
          <p:nvPr/>
        </p:nvSpPr>
        <p:spPr>
          <a:xfrm>
            <a:off x="5186797" y="3861198"/>
            <a:ext cx="33406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При </a:t>
            </a:r>
            <a:r>
              <a:rPr lang="ru-RU" dirty="0" err="1">
                <a:latin typeface="Aptos Display" panose="020B0004020202020204" pitchFamily="34" charset="0"/>
              </a:rPr>
              <a:t>този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процес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поръчката</a:t>
            </a:r>
            <a:r>
              <a:rPr lang="ru-RU" dirty="0">
                <a:latin typeface="Aptos Display" panose="020B0004020202020204" pitchFamily="34" charset="0"/>
              </a:rPr>
              <a:t> се </a:t>
            </a:r>
            <a:r>
              <a:rPr lang="ru-RU" dirty="0" err="1">
                <a:latin typeface="Aptos Display" panose="020B0004020202020204" pitchFamily="34" charset="0"/>
              </a:rPr>
              <a:t>създава</a:t>
            </a:r>
            <a:r>
              <a:rPr lang="ru-RU" dirty="0">
                <a:latin typeface="Aptos Display" panose="020B0004020202020204" pitchFamily="34" charset="0"/>
              </a:rPr>
              <a:t> и автоматично </a:t>
            </a:r>
            <a:r>
              <a:rPr lang="ru-RU" dirty="0" err="1">
                <a:latin typeface="Aptos Display" panose="020B0004020202020204" pitchFamily="34" charset="0"/>
              </a:rPr>
              <a:t>преминава</a:t>
            </a:r>
            <a:r>
              <a:rPr lang="ru-RU" dirty="0">
                <a:latin typeface="Aptos Display" panose="020B0004020202020204" pitchFamily="34" charset="0"/>
              </a:rPr>
              <a:t> в одобрен статус за </a:t>
            </a:r>
            <a:r>
              <a:rPr lang="ru-RU" dirty="0" err="1">
                <a:latin typeface="Aptos Display" panose="020B0004020202020204" pitchFamily="34" charset="0"/>
              </a:rPr>
              <a:t>по-бързо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обслужване</a:t>
            </a:r>
            <a:r>
              <a:rPr lang="ru-RU" dirty="0">
                <a:latin typeface="Aptos Display" panose="020B0004020202020204" pitchFamily="34" charset="0"/>
              </a:rPr>
              <a:t>.</a:t>
            </a:r>
          </a:p>
        </p:txBody>
      </p:sp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6CC0FE51-AF5D-1B94-6EB9-AA71F5A07ECA}"/>
              </a:ext>
            </a:extLst>
          </p:cNvPr>
          <p:cNvSpPr txBox="1"/>
          <p:nvPr/>
        </p:nvSpPr>
        <p:spPr>
          <a:xfrm>
            <a:off x="4442394" y="2757054"/>
            <a:ext cx="354326" cy="311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ym typeface="Wingdings" panose="05000000000000000000" pitchFamily="2" charset="2"/>
              </a:rPr>
              <a:t>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02996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331860C-670E-BFA5-91A2-33E493FA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11909"/>
          </a:xfrm>
        </p:spPr>
        <p:txBody>
          <a:bodyPr/>
          <a:lstStyle/>
          <a:p>
            <a:pPr algn="ctr"/>
            <a:r>
              <a:rPr lang="bg-BG" sz="2200" b="1" i="1" dirty="0"/>
              <a:t>Служител: складови операции</a:t>
            </a: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9DA7E5EC-EE1D-89ED-2889-D2E42E43A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12" y="1401041"/>
            <a:ext cx="4310902" cy="20210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3D8EF9AB-E960-6133-31A3-AB36E1A06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74648"/>
            <a:ext cx="3727788" cy="23408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B335D85C-B111-6508-22A8-2EFAD5C6D408}"/>
              </a:ext>
            </a:extLst>
          </p:cNvPr>
          <p:cNvSpPr txBox="1"/>
          <p:nvPr/>
        </p:nvSpPr>
        <p:spPr>
          <a:xfrm>
            <a:off x="904163" y="3836520"/>
            <a:ext cx="32765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Всяко действие се </a:t>
            </a:r>
            <a:r>
              <a:rPr lang="ru-RU" dirty="0" err="1">
                <a:latin typeface="Aptos Display" panose="020B0004020202020204" pitchFamily="34" charset="0"/>
              </a:rPr>
              <a:t>документира</a:t>
            </a:r>
            <a:r>
              <a:rPr lang="ru-RU" dirty="0">
                <a:latin typeface="Aptos Display" panose="020B0004020202020204" pitchFamily="34" charset="0"/>
              </a:rPr>
              <a:t> с причина, </a:t>
            </a:r>
            <a:r>
              <a:rPr lang="ru-RU" dirty="0" err="1">
                <a:latin typeface="Aptos Display" panose="020B0004020202020204" pitchFamily="34" charset="0"/>
              </a:rPr>
              <a:t>което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подпомага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вътрешния</a:t>
            </a:r>
            <a:r>
              <a:rPr lang="ru-RU" dirty="0">
                <a:latin typeface="Aptos Display" panose="020B0004020202020204" pitchFamily="34" charset="0"/>
              </a:rPr>
              <a:t> контрол и </a:t>
            </a:r>
            <a:r>
              <a:rPr lang="ru-RU" dirty="0" err="1">
                <a:latin typeface="Aptos Display" panose="020B0004020202020204" pitchFamily="34" charset="0"/>
              </a:rPr>
              <a:t>последващия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одит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8F594E0C-1020-752A-3755-978E04608DEE}"/>
              </a:ext>
            </a:extLst>
          </p:cNvPr>
          <p:cNvSpPr txBox="1"/>
          <p:nvPr/>
        </p:nvSpPr>
        <p:spPr>
          <a:xfrm>
            <a:off x="5004955" y="1327671"/>
            <a:ext cx="37762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Складовият модул позволява </a:t>
            </a:r>
            <a:r>
              <a:rPr lang="ru-RU" dirty="0" err="1"/>
              <a:t>ежедневни</a:t>
            </a:r>
            <a:r>
              <a:rPr lang="ru-RU" dirty="0"/>
              <a:t> операции </a:t>
            </a:r>
            <a:r>
              <a:rPr lang="ru-RU" dirty="0" err="1"/>
              <a:t>върху</a:t>
            </a:r>
            <a:r>
              <a:rPr lang="ru-RU" dirty="0"/>
              <a:t> </a:t>
            </a:r>
            <a:r>
              <a:rPr lang="ru-RU" dirty="0" err="1"/>
              <a:t>наличностите</a:t>
            </a:r>
            <a:r>
              <a:rPr lang="ru-RU" dirty="0"/>
              <a:t>: </a:t>
            </a:r>
            <a:r>
              <a:rPr lang="ru-RU" dirty="0" err="1"/>
              <a:t>зареждане</a:t>
            </a:r>
            <a:r>
              <a:rPr lang="ru-RU" dirty="0"/>
              <a:t>, </a:t>
            </a:r>
            <a:r>
              <a:rPr lang="ru-RU" dirty="0" err="1"/>
              <a:t>бракуване</a:t>
            </a:r>
            <a:r>
              <a:rPr lang="ru-RU" dirty="0"/>
              <a:t> и </a:t>
            </a:r>
            <a:r>
              <a:rPr lang="ru-RU" dirty="0" err="1"/>
              <a:t>замяна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0289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5BF0707-52E6-6933-9395-C45AB6E9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822745"/>
          </a:xfrm>
        </p:spPr>
        <p:txBody>
          <a:bodyPr/>
          <a:lstStyle/>
          <a:p>
            <a:pPr algn="ctr"/>
            <a:r>
              <a:rPr lang="bg-BG" sz="2200" b="1" i="1" dirty="0"/>
              <a:t>Служител: производство</a:t>
            </a: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B09FC01F-6481-B397-49BD-EC75DF01E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746" y="1698317"/>
            <a:ext cx="4824967" cy="29101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330676FD-A782-DB10-8BE8-97C2680CA68C}"/>
              </a:ext>
            </a:extLst>
          </p:cNvPr>
          <p:cNvSpPr txBox="1"/>
          <p:nvPr/>
        </p:nvSpPr>
        <p:spPr>
          <a:xfrm>
            <a:off x="595745" y="1847744"/>
            <a:ext cx="288174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Таблица за </a:t>
            </a:r>
            <a:r>
              <a:rPr lang="ru-RU" dirty="0" err="1">
                <a:latin typeface="Aptos Display" panose="020B0004020202020204" pitchFamily="34" charset="0"/>
              </a:rPr>
              <a:t>изразходени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суровини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произведени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продукти</a:t>
            </a:r>
            <a:r>
              <a:rPr lang="ru-RU" dirty="0">
                <a:latin typeface="Aptos Display" panose="020B0004020202020204" pitchFamily="34" charset="0"/>
              </a:rPr>
              <a:t>.</a:t>
            </a:r>
          </a:p>
          <a:p>
            <a:endParaRPr lang="ru-RU" dirty="0"/>
          </a:p>
          <a:p>
            <a:pPr algn="just"/>
            <a:r>
              <a:rPr lang="ru-RU" dirty="0">
                <a:latin typeface="Aptos Display" panose="020B0004020202020204" pitchFamily="34" charset="0"/>
              </a:rPr>
              <a:t>В </a:t>
            </a:r>
            <a:r>
              <a:rPr lang="ru-RU" dirty="0" err="1">
                <a:latin typeface="Aptos Display" panose="020B0004020202020204" pitchFamily="34" charset="0"/>
              </a:rPr>
              <a:t>производствения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екран</a:t>
            </a:r>
            <a:r>
              <a:rPr lang="ru-RU" dirty="0">
                <a:latin typeface="Aptos Display" panose="020B0004020202020204" pitchFamily="34" charset="0"/>
              </a:rPr>
              <a:t> се </a:t>
            </a:r>
            <a:r>
              <a:rPr lang="ru-RU" dirty="0" err="1">
                <a:latin typeface="Aptos Display" panose="020B0004020202020204" pitchFamily="34" charset="0"/>
              </a:rPr>
              <a:t>отчита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реалната</a:t>
            </a:r>
            <a:r>
              <a:rPr lang="ru-RU" dirty="0">
                <a:latin typeface="Aptos Display" panose="020B0004020202020204" pitchFamily="34" charset="0"/>
              </a:rPr>
              <a:t> трансформация на </a:t>
            </a:r>
            <a:r>
              <a:rPr lang="ru-RU" dirty="0" err="1">
                <a:latin typeface="Aptos Display" panose="020B0004020202020204" pitchFamily="34" charset="0"/>
              </a:rPr>
              <a:t>суровини</a:t>
            </a:r>
            <a:r>
              <a:rPr lang="ru-RU" dirty="0">
                <a:latin typeface="Aptos Display" panose="020B0004020202020204" pitchFamily="34" charset="0"/>
              </a:rPr>
              <a:t> в готова продукция.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>
                <a:latin typeface="Aptos Display" panose="020B0004020202020204" pitchFamily="34" charset="0"/>
              </a:rPr>
              <a:t>След </a:t>
            </a:r>
            <a:r>
              <a:rPr lang="ru-RU" dirty="0" err="1">
                <a:latin typeface="Aptos Display" panose="020B0004020202020204" pitchFamily="34" charset="0"/>
              </a:rPr>
              <a:t>запис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системата</a:t>
            </a:r>
            <a:r>
              <a:rPr lang="ru-RU" dirty="0">
                <a:latin typeface="Aptos Display" panose="020B0004020202020204" pitchFamily="34" charset="0"/>
              </a:rPr>
              <a:t> автоматично </a:t>
            </a:r>
            <a:r>
              <a:rPr lang="ru-RU" dirty="0" err="1">
                <a:latin typeface="Aptos Display" panose="020B0004020202020204" pitchFamily="34" charset="0"/>
              </a:rPr>
              <a:t>намалява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наличните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суровини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увеличава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количествата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произведените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артикули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580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A97A21F-9CA9-0597-65BF-84F4D813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39618"/>
          </a:xfrm>
        </p:spPr>
        <p:txBody>
          <a:bodyPr/>
          <a:lstStyle/>
          <a:p>
            <a:pPr algn="ctr"/>
            <a:r>
              <a:rPr lang="bg-BG" sz="2200" b="1" i="1" dirty="0"/>
              <a:t>Служител: дневна проверка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3B9AC830-B144-7DAD-F8FA-3738D9A86746}"/>
              </a:ext>
            </a:extLst>
          </p:cNvPr>
          <p:cNvSpPr txBox="1"/>
          <p:nvPr/>
        </p:nvSpPr>
        <p:spPr>
          <a:xfrm>
            <a:off x="4853703" y="1440311"/>
            <a:ext cx="38487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При </a:t>
            </a:r>
            <a:r>
              <a:rPr lang="ru-RU" dirty="0" err="1">
                <a:latin typeface="Aptos Display" panose="020B0004020202020204" pitchFamily="34" charset="0"/>
              </a:rPr>
              <a:t>разминавания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платформата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ги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визуализира</a:t>
            </a:r>
            <a:r>
              <a:rPr lang="ru-RU" dirty="0">
                <a:latin typeface="Aptos Display" panose="020B0004020202020204" pitchFamily="34" charset="0"/>
              </a:rPr>
              <a:t> ясно, </a:t>
            </a:r>
            <a:r>
              <a:rPr lang="ru-RU" dirty="0" err="1">
                <a:latin typeface="Aptos Display" panose="020B0004020202020204" pitchFamily="34" charset="0"/>
              </a:rPr>
              <a:t>което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улеснява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навременната</a:t>
            </a:r>
            <a:r>
              <a:rPr lang="ru-RU" dirty="0">
                <a:latin typeface="Aptos Display" panose="020B0004020202020204" pitchFamily="34" charset="0"/>
              </a:rPr>
              <a:t> реакция и </a:t>
            </a:r>
            <a:r>
              <a:rPr lang="ru-RU" dirty="0" err="1">
                <a:latin typeface="Aptos Display" panose="020B0004020202020204" pitchFamily="34" charset="0"/>
              </a:rPr>
              <a:t>коригиращи</a:t>
            </a:r>
            <a:r>
              <a:rPr lang="ru-RU" dirty="0">
                <a:latin typeface="Aptos Display" panose="020B0004020202020204" pitchFamily="34" charset="0"/>
              </a:rPr>
              <a:t> действия.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70821A91-ADAD-4F71-BB03-40F569C22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16" y="2327562"/>
            <a:ext cx="3893149" cy="2414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32FFB020-5119-64BB-6658-832E3E163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703" y="2327562"/>
            <a:ext cx="3784881" cy="2414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687C579F-B1F6-0330-3B14-24E924917D32}"/>
              </a:ext>
            </a:extLst>
          </p:cNvPr>
          <p:cNvSpPr txBox="1"/>
          <p:nvPr/>
        </p:nvSpPr>
        <p:spPr>
          <a:xfrm>
            <a:off x="607199" y="1539480"/>
            <a:ext cx="3791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Дневната проверка е </a:t>
            </a:r>
            <a:r>
              <a:rPr lang="ru-RU" dirty="0" err="1">
                <a:latin typeface="Aptos Display" panose="020B0004020202020204" pitchFamily="34" charset="0"/>
              </a:rPr>
              <a:t>механизъм</a:t>
            </a:r>
            <a:r>
              <a:rPr lang="ru-RU" dirty="0">
                <a:latin typeface="Aptos Display" panose="020B0004020202020204" pitchFamily="34" charset="0"/>
              </a:rPr>
              <a:t> за </a:t>
            </a:r>
            <a:r>
              <a:rPr lang="ru-RU" dirty="0" err="1">
                <a:latin typeface="Aptos Display" panose="020B0004020202020204" pitchFamily="34" charset="0"/>
              </a:rPr>
              <a:t>сверяване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физическата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наличност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със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системната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63172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EA79957-C863-BE93-4A8D-AE88C848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621855"/>
          </a:xfrm>
        </p:spPr>
        <p:txBody>
          <a:bodyPr/>
          <a:lstStyle/>
          <a:p>
            <a:pPr algn="ctr"/>
            <a:r>
              <a:rPr lang="bg-BG" sz="2200" b="1" i="1" dirty="0"/>
              <a:t>Управител / Собственик: табло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F2BA29C0-1E11-7F33-CA57-20D971DAD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449" y="1946856"/>
            <a:ext cx="3859102" cy="1249788"/>
          </a:xfrm>
          <a:prstGeom prst="rect">
            <a:avLst/>
          </a:prstGeom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A6F98C78-8506-BB46-7A92-204386139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849" y="2099256"/>
            <a:ext cx="3859102" cy="1249788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DEE4A1F9-B16F-D5D6-7069-F4AA74EA3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043062"/>
            <a:ext cx="4572000" cy="25654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138A44EA-06F4-63DC-80E8-059C6AF95899}"/>
              </a:ext>
            </a:extLst>
          </p:cNvPr>
          <p:cNvSpPr txBox="1"/>
          <p:nvPr/>
        </p:nvSpPr>
        <p:spPr>
          <a:xfrm>
            <a:off x="2362200" y="15613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KPI за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стойности</a:t>
            </a:r>
            <a:r>
              <a:rPr lang="ru-RU" dirty="0">
                <a:latin typeface="Aptos Display" panose="020B0004020202020204" pitchFamily="34" charset="0"/>
              </a:rPr>
              <a:t>, наличности и </a:t>
            </a:r>
            <a:r>
              <a:rPr lang="ru-RU" dirty="0" err="1">
                <a:latin typeface="Aptos Display" panose="020B0004020202020204" pitchFamily="34" charset="0"/>
              </a:rPr>
              <a:t>последни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одити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915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1158-56E8-6E7D-D257-6F730950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6F22FB2-878E-35F5-5C52-E1B750A6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621855"/>
          </a:xfrm>
        </p:spPr>
        <p:txBody>
          <a:bodyPr/>
          <a:lstStyle/>
          <a:p>
            <a:pPr algn="ctr"/>
            <a:r>
              <a:rPr lang="bg-BG" sz="2200" b="1" i="1" dirty="0"/>
              <a:t>Управител / Собственик: табло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6EDB5443-CB7A-CC0C-AD82-969C8C6B1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49" y="1946856"/>
            <a:ext cx="3859102" cy="1249788"/>
          </a:xfrm>
          <a:prstGeom prst="rect">
            <a:avLst/>
          </a:prstGeom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FBC9098E-5EA1-B1BE-9B4D-6D165C19F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849" y="2099256"/>
            <a:ext cx="3859102" cy="1249788"/>
          </a:xfrm>
          <a:prstGeom prst="rect">
            <a:avLst/>
          </a:prstGeom>
        </p:spPr>
      </p:pic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9456579E-790A-A5A4-61AD-6EAE6869F280}"/>
              </a:ext>
            </a:extLst>
          </p:cNvPr>
          <p:cNvSpPr txBox="1"/>
          <p:nvPr/>
        </p:nvSpPr>
        <p:spPr>
          <a:xfrm>
            <a:off x="628924" y="2032446"/>
            <a:ext cx="27016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Aptos Display" panose="020B0004020202020204" pitchFamily="34" charset="0"/>
              </a:rPr>
              <a:t>Управленското</a:t>
            </a:r>
            <a:r>
              <a:rPr lang="ru-RU" dirty="0">
                <a:latin typeface="Aptos Display" panose="020B0004020202020204" pitchFamily="34" charset="0"/>
              </a:rPr>
              <a:t> табло </a:t>
            </a:r>
            <a:r>
              <a:rPr lang="ru-RU" dirty="0" err="1">
                <a:latin typeface="Aptos Display" panose="020B0004020202020204" pitchFamily="34" charset="0"/>
              </a:rPr>
              <a:t>обединява</a:t>
            </a:r>
            <a:r>
              <a:rPr lang="ru-RU" dirty="0">
                <a:latin typeface="Aptos Display" panose="020B0004020202020204" pitchFamily="34" charset="0"/>
              </a:rPr>
              <a:t> бизнес и </a:t>
            </a:r>
            <a:r>
              <a:rPr lang="ru-RU" dirty="0" err="1">
                <a:latin typeface="Aptos Display" panose="020B0004020202020204" pitchFamily="34" charset="0"/>
              </a:rPr>
              <a:t>оперативни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индикатори</a:t>
            </a:r>
            <a:r>
              <a:rPr lang="ru-RU" dirty="0">
                <a:latin typeface="Aptos Display" panose="020B0004020202020204" pitchFamily="34" charset="0"/>
              </a:rPr>
              <a:t> в един </a:t>
            </a:r>
            <a:r>
              <a:rPr lang="ru-RU" dirty="0" err="1">
                <a:latin typeface="Aptos Display" panose="020B0004020202020204" pitchFamily="34" charset="0"/>
              </a:rPr>
              <a:t>поглед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 err="1">
                <a:latin typeface="Aptos Display" panose="020B0004020202020204" pitchFamily="34" charset="0"/>
              </a:rPr>
              <a:t>Собственикът</a:t>
            </a:r>
            <a:r>
              <a:rPr lang="ru-RU" dirty="0">
                <a:latin typeface="Aptos Display" panose="020B0004020202020204" pitchFamily="34" charset="0"/>
              </a:rPr>
              <a:t> следи </a:t>
            </a:r>
            <a:r>
              <a:rPr lang="ru-RU" dirty="0" err="1">
                <a:latin typeface="Aptos Display" panose="020B0004020202020204" pitchFamily="34" charset="0"/>
              </a:rPr>
              <a:t>динамиката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поръчките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финансовите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стойности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състоянието</a:t>
            </a:r>
            <a:r>
              <a:rPr lang="ru-RU" dirty="0">
                <a:latin typeface="Aptos Display" panose="020B0004020202020204" pitchFamily="34" charset="0"/>
              </a:rPr>
              <a:t> на склада, за да </a:t>
            </a:r>
            <a:r>
              <a:rPr lang="ru-RU" dirty="0" err="1">
                <a:latin typeface="Aptos Display" panose="020B0004020202020204" pitchFamily="34" charset="0"/>
              </a:rPr>
              <a:t>взема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бързи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управленски</a:t>
            </a:r>
            <a:r>
              <a:rPr lang="ru-RU" dirty="0">
                <a:latin typeface="Aptos Display" panose="020B0004020202020204" pitchFamily="34" charset="0"/>
              </a:rPr>
              <a:t> решения.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C4F59706-E51D-5D7C-D7D4-4535F17B7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273" y="1946856"/>
            <a:ext cx="4979853" cy="2558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635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F199AE3-C4DA-1E8C-38D8-57567C50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95036"/>
          </a:xfrm>
        </p:spPr>
        <p:txBody>
          <a:bodyPr/>
          <a:lstStyle/>
          <a:p>
            <a:pPr algn="ctr"/>
            <a:r>
              <a:rPr lang="bg-BG" sz="2200" b="1" i="1" dirty="0"/>
              <a:t>Управител: управление на поръчки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04A5968F-9A9A-DFD3-9A9D-1E231C0F9B46}"/>
              </a:ext>
            </a:extLst>
          </p:cNvPr>
          <p:cNvSpPr txBox="1"/>
          <p:nvPr/>
        </p:nvSpPr>
        <p:spPr>
          <a:xfrm>
            <a:off x="5569527" y="2149983"/>
            <a:ext cx="28401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Aptos Display" panose="020B0004020202020204" pitchFamily="34" charset="0"/>
              </a:rPr>
              <a:t>Този</a:t>
            </a:r>
            <a:r>
              <a:rPr lang="ru-RU" dirty="0">
                <a:latin typeface="Aptos Display" panose="020B0004020202020204" pitchFamily="34" charset="0"/>
              </a:rPr>
              <a:t> модул за управление на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 позволява </a:t>
            </a:r>
            <a:r>
              <a:rPr lang="ru-RU" dirty="0" err="1">
                <a:latin typeface="Aptos Display" panose="020B0004020202020204" pitchFamily="34" charset="0"/>
              </a:rPr>
              <a:t>преглед</a:t>
            </a:r>
            <a:r>
              <a:rPr lang="ru-RU" dirty="0">
                <a:latin typeface="Aptos Display" panose="020B0004020202020204" pitchFamily="34" charset="0"/>
              </a:rPr>
              <a:t> по статус и </a:t>
            </a:r>
            <a:r>
              <a:rPr lang="ru-RU" dirty="0" err="1">
                <a:latin typeface="Aptos Display" panose="020B0004020202020204" pitchFamily="34" charset="0"/>
              </a:rPr>
              <a:t>целенасочена</a:t>
            </a:r>
            <a:r>
              <a:rPr lang="ru-RU" dirty="0">
                <a:latin typeface="Aptos Display" panose="020B0004020202020204" pitchFamily="34" charset="0"/>
              </a:rPr>
              <a:t> обработка на </a:t>
            </a:r>
            <a:r>
              <a:rPr lang="ru-RU" dirty="0" err="1">
                <a:latin typeface="Aptos Display" panose="020B0004020202020204" pitchFamily="34" charset="0"/>
              </a:rPr>
              <a:t>заявките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</a:p>
          <a:p>
            <a:pPr algn="just"/>
            <a:endParaRPr lang="ru-RU" dirty="0">
              <a:latin typeface="Aptos Display" panose="020B0004020202020204" pitchFamily="34" charset="0"/>
            </a:endParaRPr>
          </a:p>
          <a:p>
            <a:pPr algn="just"/>
            <a:r>
              <a:rPr lang="ru-RU" dirty="0">
                <a:latin typeface="Aptos Display" panose="020B0004020202020204" pitchFamily="34" charset="0"/>
              </a:rPr>
              <a:t>Така </a:t>
            </a:r>
            <a:r>
              <a:rPr lang="ru-RU" dirty="0" err="1">
                <a:latin typeface="Aptos Display" panose="020B0004020202020204" pitchFamily="34" charset="0"/>
              </a:rPr>
              <a:t>ръководството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поддържа</a:t>
            </a:r>
            <a:r>
              <a:rPr lang="ru-RU" dirty="0">
                <a:latin typeface="Aptos Display" panose="020B0004020202020204" pitchFamily="34" charset="0"/>
              </a:rPr>
              <a:t> контрол </a:t>
            </a:r>
            <a:r>
              <a:rPr lang="ru-RU" dirty="0" err="1">
                <a:latin typeface="Aptos Display" panose="020B0004020202020204" pitchFamily="34" charset="0"/>
              </a:rPr>
              <a:t>върху</a:t>
            </a:r>
            <a:r>
              <a:rPr lang="ru-RU" dirty="0">
                <a:latin typeface="Aptos Display" panose="020B0004020202020204" pitchFamily="34" charset="0"/>
              </a:rPr>
              <a:t> потока от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 и </a:t>
            </a:r>
            <a:r>
              <a:rPr lang="ru-RU" dirty="0" err="1">
                <a:latin typeface="Aptos Display" panose="020B0004020202020204" pitchFamily="34" charset="0"/>
              </a:rPr>
              <a:t>времето</a:t>
            </a:r>
            <a:r>
              <a:rPr lang="ru-RU" dirty="0">
                <a:latin typeface="Aptos Display" panose="020B0004020202020204" pitchFamily="34" charset="0"/>
              </a:rPr>
              <a:t> за реакция </a:t>
            </a:r>
            <a:r>
              <a:rPr lang="ru-RU" dirty="0" err="1">
                <a:latin typeface="Aptos Display" panose="020B0004020202020204" pitchFamily="34" charset="0"/>
              </a:rPr>
              <a:t>към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клиентите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75DE9735-0EA4-F830-4F4F-F513B3955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47" y="1744073"/>
            <a:ext cx="4599413" cy="28644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070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897F842-C10F-E646-9D5D-6B3201EB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32691"/>
          </a:xfrm>
        </p:spPr>
        <p:txBody>
          <a:bodyPr/>
          <a:lstStyle/>
          <a:p>
            <a:pPr algn="ctr"/>
            <a:r>
              <a:rPr lang="bg-BG" sz="2200" b="1" i="1" dirty="0"/>
              <a:t>Управител: склад (</a:t>
            </a:r>
            <a:r>
              <a:rPr lang="en-US" sz="2200" b="1" i="1" dirty="0"/>
              <a:t> </a:t>
            </a:r>
            <a:r>
              <a:rPr lang="bg-BG" sz="2200" b="1" i="1" dirty="0"/>
              <a:t>продукти + суровини)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31091AAC-3450-E5AC-BF3B-DCE6D45E026C}"/>
              </a:ext>
            </a:extLst>
          </p:cNvPr>
          <p:cNvSpPr txBox="1"/>
          <p:nvPr/>
        </p:nvSpPr>
        <p:spPr>
          <a:xfrm>
            <a:off x="1461653" y="1485404"/>
            <a:ext cx="62206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В </a:t>
            </a:r>
            <a:r>
              <a:rPr lang="ru-RU" dirty="0" err="1">
                <a:latin typeface="Aptos Display" panose="020B0004020202020204" pitchFamily="34" charset="0"/>
              </a:rPr>
              <a:t>управленски</a:t>
            </a:r>
            <a:r>
              <a:rPr lang="ru-RU" dirty="0">
                <a:latin typeface="Aptos Display" panose="020B0004020202020204" pitchFamily="34" charset="0"/>
              </a:rPr>
              <a:t> режим </a:t>
            </a:r>
            <a:r>
              <a:rPr lang="ru-RU" dirty="0" err="1">
                <a:latin typeface="Aptos Display" panose="020B0004020202020204" pitchFamily="34" charset="0"/>
              </a:rPr>
              <a:t>складовите</a:t>
            </a:r>
            <a:r>
              <a:rPr lang="ru-RU" dirty="0">
                <a:latin typeface="Aptos Display" panose="020B0004020202020204" pitchFamily="34" charset="0"/>
              </a:rPr>
              <a:t> операции </a:t>
            </a:r>
            <a:r>
              <a:rPr lang="ru-RU" dirty="0" err="1">
                <a:latin typeface="Aptos Display" panose="020B0004020202020204" pitchFamily="34" charset="0"/>
              </a:rPr>
              <a:t>са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разширени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както</a:t>
            </a:r>
            <a:r>
              <a:rPr lang="ru-RU" dirty="0">
                <a:latin typeface="Aptos Display" panose="020B0004020202020204" pitchFamily="34" charset="0"/>
              </a:rPr>
              <a:t> за </a:t>
            </a:r>
            <a:r>
              <a:rPr lang="ru-RU" dirty="0" err="1">
                <a:latin typeface="Aptos Display" panose="020B0004020202020204" pitchFamily="34" charset="0"/>
              </a:rPr>
              <a:t>готови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продукти</a:t>
            </a:r>
            <a:r>
              <a:rPr lang="ru-RU" dirty="0">
                <a:latin typeface="Aptos Display" panose="020B0004020202020204" pitchFamily="34" charset="0"/>
              </a:rPr>
              <a:t>, </a:t>
            </a:r>
            <a:r>
              <a:rPr lang="ru-RU" dirty="0" err="1">
                <a:latin typeface="Aptos Display" panose="020B0004020202020204" pitchFamily="34" charset="0"/>
              </a:rPr>
              <a:t>така</a:t>
            </a:r>
            <a:r>
              <a:rPr lang="ru-RU" dirty="0">
                <a:latin typeface="Aptos Display" panose="020B0004020202020204" pitchFamily="34" charset="0"/>
              </a:rPr>
              <a:t> и за </a:t>
            </a:r>
            <a:r>
              <a:rPr lang="ru-RU" dirty="0" err="1">
                <a:latin typeface="Aptos Display" panose="020B0004020202020204" pitchFamily="34" charset="0"/>
              </a:rPr>
              <a:t>суровини</a:t>
            </a:r>
            <a:r>
              <a:rPr lang="ru-RU" dirty="0">
                <a:latin typeface="Aptos Display" panose="020B0004020202020204" pitchFamily="34" charset="0"/>
              </a:rPr>
              <a:t>. </a:t>
            </a:r>
            <a:r>
              <a:rPr lang="ru-RU" dirty="0" err="1">
                <a:latin typeface="Aptos Display" panose="020B0004020202020204" pitchFamily="34" charset="0"/>
              </a:rPr>
              <a:t>Това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осигурява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гъвкавост</a:t>
            </a:r>
            <a:r>
              <a:rPr lang="ru-RU" dirty="0">
                <a:latin typeface="Aptos Display" panose="020B0004020202020204" pitchFamily="34" charset="0"/>
              </a:rPr>
              <a:t> при управление на </a:t>
            </a:r>
            <a:r>
              <a:rPr lang="ru-RU" dirty="0" err="1">
                <a:latin typeface="Aptos Display" panose="020B0004020202020204" pitchFamily="34" charset="0"/>
              </a:rPr>
              <a:t>материалния</a:t>
            </a:r>
            <a:r>
              <a:rPr lang="ru-RU" dirty="0">
                <a:latin typeface="Aptos Display" panose="020B0004020202020204" pitchFamily="34" charset="0"/>
              </a:rPr>
              <a:t> поток и </a:t>
            </a:r>
            <a:r>
              <a:rPr lang="ru-RU" dirty="0" err="1">
                <a:latin typeface="Aptos Display" panose="020B0004020202020204" pitchFamily="34" charset="0"/>
              </a:rPr>
              <a:t>по-точно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планиране</a:t>
            </a:r>
            <a:r>
              <a:rPr lang="ru-RU" dirty="0">
                <a:latin typeface="Aptos Display" panose="020B0004020202020204" pitchFamily="34" charset="0"/>
              </a:rPr>
              <a:t> на </a:t>
            </a:r>
            <a:r>
              <a:rPr lang="ru-RU" dirty="0" err="1">
                <a:latin typeface="Aptos Display" panose="020B0004020202020204" pitchFamily="34" charset="0"/>
              </a:rPr>
              <a:t>доставките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3D7C1A7F-7A97-EEEE-8546-35D735D0D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49" y="2379437"/>
            <a:ext cx="5829299" cy="2547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7586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EE47C0-2A6E-538F-7215-42CAA206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711909"/>
          </a:xfrm>
        </p:spPr>
        <p:txBody>
          <a:bodyPr/>
          <a:lstStyle/>
          <a:p>
            <a:pPr algn="ctr"/>
            <a:r>
              <a:rPr lang="bg-BG" sz="2200" b="1" i="1" dirty="0"/>
              <a:t>Управител: потребители и роли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D2C42406-FD98-C1A8-D688-F21870350205}"/>
              </a:ext>
            </a:extLst>
          </p:cNvPr>
          <p:cNvSpPr txBox="1"/>
          <p:nvPr/>
        </p:nvSpPr>
        <p:spPr>
          <a:xfrm>
            <a:off x="365413" y="4078557"/>
            <a:ext cx="56110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/>
              <a:t>Промяната</a:t>
            </a:r>
            <a:r>
              <a:rPr lang="ru-RU" dirty="0"/>
              <a:t> на роля става </a:t>
            </a:r>
            <a:r>
              <a:rPr lang="ru-RU" dirty="0" err="1"/>
              <a:t>директно</a:t>
            </a:r>
            <a:r>
              <a:rPr lang="ru-RU" dirty="0"/>
              <a:t> от </a:t>
            </a:r>
            <a:r>
              <a:rPr lang="ru-RU" dirty="0" err="1"/>
              <a:t>списък</a:t>
            </a:r>
            <a:r>
              <a:rPr lang="ru-RU" dirty="0"/>
              <a:t> с потребители, </a:t>
            </a:r>
            <a:r>
              <a:rPr lang="ru-RU" dirty="0" err="1"/>
              <a:t>което</a:t>
            </a:r>
            <a:r>
              <a:rPr lang="ru-RU" dirty="0"/>
              <a:t> </a:t>
            </a:r>
            <a:r>
              <a:rPr lang="ru-RU" dirty="0" err="1"/>
              <a:t>гарантира</a:t>
            </a:r>
            <a:r>
              <a:rPr lang="ru-RU" dirty="0"/>
              <a:t> ясно </a:t>
            </a:r>
            <a:r>
              <a:rPr lang="ru-RU" dirty="0" err="1"/>
              <a:t>разпределение</a:t>
            </a:r>
            <a:r>
              <a:rPr lang="ru-RU" dirty="0"/>
              <a:t> на </a:t>
            </a:r>
            <a:r>
              <a:rPr lang="ru-RU" dirty="0" err="1"/>
              <a:t>отговорностите</a:t>
            </a:r>
            <a:r>
              <a:rPr lang="ru-RU" dirty="0"/>
              <a:t> и </a:t>
            </a:r>
            <a:r>
              <a:rPr lang="ru-RU" dirty="0" err="1"/>
              <a:t>сигурност</a:t>
            </a:r>
            <a:r>
              <a:rPr lang="ru-RU" dirty="0"/>
              <a:t> на </a:t>
            </a:r>
            <a:r>
              <a:rPr lang="ru-RU" dirty="0" err="1"/>
              <a:t>вътрешните</a:t>
            </a:r>
            <a:r>
              <a:rPr lang="ru-RU" dirty="0"/>
              <a:t> модули.</a:t>
            </a:r>
          </a:p>
          <a:p>
            <a:endParaRPr lang="bg-BG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445DE242-25C1-7CAF-9D19-62100A084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77" y="1400511"/>
            <a:ext cx="5451764" cy="24645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83C62A4B-55D6-D8D3-3FD6-AD0185881B38}"/>
              </a:ext>
            </a:extLst>
          </p:cNvPr>
          <p:cNvSpPr txBox="1"/>
          <p:nvPr/>
        </p:nvSpPr>
        <p:spPr>
          <a:xfrm>
            <a:off x="6267450" y="1920057"/>
            <a:ext cx="25786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Aptos Display" panose="020B0004020202020204" pitchFamily="34" charset="0"/>
              </a:rPr>
              <a:t>Таблица с </a:t>
            </a:r>
            <a:r>
              <a:rPr lang="ru-RU" sz="1600" dirty="0" err="1">
                <a:latin typeface="Aptos Display" panose="020B0004020202020204" pitchFamily="34" charset="0"/>
              </a:rPr>
              <a:t>акаунти</a:t>
            </a:r>
            <a:r>
              <a:rPr lang="ru-RU" sz="1600" dirty="0">
                <a:latin typeface="Aptos Display" panose="020B0004020202020204" pitchFamily="34" charset="0"/>
              </a:rPr>
              <a:t> и </a:t>
            </a:r>
            <a:r>
              <a:rPr lang="ru-RU" sz="1600" dirty="0" err="1">
                <a:latin typeface="Aptos Display" panose="020B0004020202020204" pitchFamily="34" charset="0"/>
              </a:rPr>
              <a:t>бутони</a:t>
            </a:r>
            <a:r>
              <a:rPr lang="ru-RU" sz="1600" dirty="0">
                <a:latin typeface="Aptos Display" panose="020B0004020202020204" pitchFamily="34" charset="0"/>
              </a:rPr>
              <a:t> за </a:t>
            </a:r>
            <a:r>
              <a:rPr lang="ru-RU" sz="1600" dirty="0" err="1">
                <a:latin typeface="Aptos Display" panose="020B0004020202020204" pitchFamily="34" charset="0"/>
              </a:rPr>
              <a:t>промяна</a:t>
            </a:r>
            <a:r>
              <a:rPr lang="ru-RU" sz="1600" dirty="0">
                <a:latin typeface="Aptos Display" panose="020B0004020202020204" pitchFamily="34" charset="0"/>
              </a:rPr>
              <a:t> на роля.</a:t>
            </a:r>
          </a:p>
          <a:p>
            <a:pPr algn="just"/>
            <a:r>
              <a:rPr lang="ru-RU" sz="1600" dirty="0">
                <a:latin typeface="Aptos Display" panose="020B0004020202020204" pitchFamily="34" charset="0"/>
              </a:rPr>
              <a:t> </a:t>
            </a:r>
          </a:p>
          <a:p>
            <a:pPr algn="just"/>
            <a:r>
              <a:rPr lang="ru-RU" sz="1600" dirty="0" err="1">
                <a:latin typeface="Aptos Display" panose="020B0004020202020204" pitchFamily="34" charset="0"/>
              </a:rPr>
              <a:t>Собственикът</a:t>
            </a:r>
            <a:r>
              <a:rPr lang="ru-RU" sz="1600" dirty="0">
                <a:latin typeface="Aptos Display" panose="020B0004020202020204" pitchFamily="34" charset="0"/>
              </a:rPr>
              <a:t> </a:t>
            </a:r>
            <a:r>
              <a:rPr lang="ru-RU" sz="1600" dirty="0" err="1">
                <a:latin typeface="Aptos Display" panose="020B0004020202020204" pitchFamily="34" charset="0"/>
              </a:rPr>
              <a:t>може</a:t>
            </a:r>
            <a:r>
              <a:rPr lang="ru-RU" sz="1600" dirty="0">
                <a:latin typeface="Aptos Display" panose="020B0004020202020204" pitchFamily="34" charset="0"/>
              </a:rPr>
              <a:t> да </a:t>
            </a:r>
            <a:r>
              <a:rPr lang="ru-RU" sz="1600" dirty="0" err="1">
                <a:latin typeface="Aptos Display" panose="020B0004020202020204" pitchFamily="34" charset="0"/>
              </a:rPr>
              <a:t>управлява</a:t>
            </a:r>
            <a:r>
              <a:rPr lang="ru-RU" sz="1600" dirty="0">
                <a:latin typeface="Aptos Display" panose="020B0004020202020204" pitchFamily="34" charset="0"/>
              </a:rPr>
              <a:t> </a:t>
            </a:r>
            <a:r>
              <a:rPr lang="ru-RU" sz="1600" dirty="0" err="1">
                <a:latin typeface="Aptos Display" panose="020B0004020202020204" pitchFamily="34" charset="0"/>
              </a:rPr>
              <a:t>достъпите</a:t>
            </a:r>
            <a:r>
              <a:rPr lang="ru-RU" sz="1600" dirty="0">
                <a:latin typeface="Aptos Display" panose="020B0004020202020204" pitchFamily="34" charset="0"/>
              </a:rPr>
              <a:t> чрез </a:t>
            </a:r>
            <a:r>
              <a:rPr lang="ru-RU" sz="1600" dirty="0" err="1">
                <a:latin typeface="Aptos Display" panose="020B0004020202020204" pitchFamily="34" charset="0"/>
              </a:rPr>
              <a:t>ролеви</a:t>
            </a:r>
            <a:r>
              <a:rPr lang="ru-RU" sz="1600" dirty="0">
                <a:latin typeface="Aptos Display" panose="020B0004020202020204" pitchFamily="34" charset="0"/>
              </a:rPr>
              <a:t> </a:t>
            </a:r>
            <a:r>
              <a:rPr lang="ru-RU" sz="1600" dirty="0" err="1">
                <a:latin typeface="Aptos Display" panose="020B0004020202020204" pitchFamily="34" charset="0"/>
              </a:rPr>
              <a:t>модел</a:t>
            </a:r>
            <a:r>
              <a:rPr lang="ru-RU" sz="1600" dirty="0">
                <a:latin typeface="Aptos Display" panose="020B00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12074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B633038-EF86-D107-E51E-16674A9D9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656491"/>
          </a:xfrm>
        </p:spPr>
        <p:txBody>
          <a:bodyPr/>
          <a:lstStyle/>
          <a:p>
            <a:pPr algn="ctr"/>
            <a:r>
              <a:rPr lang="ru-RU" sz="2200" b="1" i="1" dirty="0"/>
              <a:t>Управител: </a:t>
            </a:r>
            <a:r>
              <a:rPr lang="ru-RU" sz="2200" b="1" i="1" dirty="0" err="1"/>
              <a:t>продукти</a:t>
            </a:r>
            <a:r>
              <a:rPr lang="ru-RU" sz="2200" b="1" i="1" dirty="0"/>
              <a:t> и </a:t>
            </a:r>
            <a:r>
              <a:rPr lang="ru-RU" sz="2200" b="1" i="1" dirty="0" err="1"/>
              <a:t>суровини</a:t>
            </a:r>
            <a:r>
              <a:rPr lang="ru-RU" sz="2200" b="1" i="1" dirty="0"/>
              <a:t> (CRUD)</a:t>
            </a:r>
            <a:endParaRPr lang="bg-BG" sz="2200" b="1" i="1" dirty="0"/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0A0B11F4-5B07-FC4A-3A4E-3D418BC73909}"/>
              </a:ext>
            </a:extLst>
          </p:cNvPr>
          <p:cNvSpPr txBox="1"/>
          <p:nvPr/>
        </p:nvSpPr>
        <p:spPr>
          <a:xfrm>
            <a:off x="1394329" y="1945867"/>
            <a:ext cx="2798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Екрани</a:t>
            </a:r>
            <a:r>
              <a:rPr lang="ru-RU" dirty="0"/>
              <a:t> за „</a:t>
            </a:r>
            <a:r>
              <a:rPr lang="ru-RU" dirty="0" err="1"/>
              <a:t>Създай</a:t>
            </a:r>
            <a:r>
              <a:rPr lang="ru-RU" dirty="0"/>
              <a:t>“, „</a:t>
            </a:r>
            <a:r>
              <a:rPr lang="ru-RU" dirty="0" err="1"/>
              <a:t>Детайли</a:t>
            </a:r>
            <a:r>
              <a:rPr lang="ru-RU" dirty="0"/>
              <a:t>“, „Редакция“, „</a:t>
            </a:r>
            <a:r>
              <a:rPr lang="ru-RU" dirty="0" err="1"/>
              <a:t>Изтрий</a:t>
            </a:r>
            <a:r>
              <a:rPr lang="ru-RU" dirty="0"/>
              <a:t>“.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8F92F987-6D5F-F2FA-DBBB-022836B89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091" y="1709585"/>
            <a:ext cx="2553132" cy="11595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0EA0B34F-879F-9A7D-1082-EB2682286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11" y="2746510"/>
            <a:ext cx="2376054" cy="16523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390F4845-0F9F-12E9-1331-8256BE8CB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090" y="3368937"/>
            <a:ext cx="2553132" cy="8812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8423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DA7C896-9923-F31E-6346-7005A46B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864309"/>
          </a:xfrm>
        </p:spPr>
        <p:txBody>
          <a:bodyPr/>
          <a:lstStyle/>
          <a:p>
            <a:pPr algn="ctr"/>
            <a:r>
              <a:rPr lang="ru-RU" sz="2200" b="1" i="1" dirty="0"/>
              <a:t>Управител: </a:t>
            </a:r>
            <a:r>
              <a:rPr lang="ru-RU" sz="2200" b="1" i="1" dirty="0" err="1"/>
              <a:t>продукти</a:t>
            </a:r>
            <a:r>
              <a:rPr lang="ru-RU" sz="2200" b="1" i="1" dirty="0"/>
              <a:t> и </a:t>
            </a:r>
            <a:r>
              <a:rPr lang="ru-RU" sz="2200" b="1" i="1" dirty="0" err="1"/>
              <a:t>суровини</a:t>
            </a:r>
            <a:r>
              <a:rPr lang="ru-RU" sz="2200" b="1" i="1" dirty="0"/>
              <a:t> (CRUD)</a:t>
            </a:r>
            <a:endParaRPr lang="bg-BG" sz="2200" b="1" i="1" dirty="0"/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AD2E2A8A-7867-9926-90CD-2E4CC4AB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48" y="2405495"/>
            <a:ext cx="4405746" cy="22948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282C01A3-F4BD-D813-6E6D-397F2DD62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279" y="1705840"/>
            <a:ext cx="3224672" cy="22210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9BE9E97B-2814-DF88-F1CC-D49B7A7B4D76}"/>
              </a:ext>
            </a:extLst>
          </p:cNvPr>
          <p:cNvSpPr txBox="1"/>
          <p:nvPr/>
        </p:nvSpPr>
        <p:spPr>
          <a:xfrm>
            <a:off x="897078" y="1640792"/>
            <a:ext cx="4097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Системата предоставя </a:t>
            </a:r>
            <a:r>
              <a:rPr lang="ru-RU" dirty="0" err="1"/>
              <a:t>пълно</a:t>
            </a:r>
            <a:r>
              <a:rPr lang="ru-RU" dirty="0"/>
              <a:t> </a:t>
            </a:r>
            <a:r>
              <a:rPr lang="ru-RU" dirty="0" err="1"/>
              <a:t>администриране</a:t>
            </a:r>
            <a:r>
              <a:rPr lang="ru-RU" dirty="0"/>
              <a:t> на </a:t>
            </a:r>
            <a:r>
              <a:rPr lang="ru-RU" dirty="0" err="1"/>
              <a:t>продуктовия</a:t>
            </a:r>
            <a:r>
              <a:rPr lang="ru-RU" dirty="0"/>
              <a:t> каталог и </a:t>
            </a:r>
            <a:r>
              <a:rPr lang="ru-RU" dirty="0" err="1"/>
              <a:t>суровинната</a:t>
            </a:r>
            <a:r>
              <a:rPr lang="ru-RU" dirty="0"/>
              <a:t> база.</a:t>
            </a:r>
            <a:endParaRPr lang="bg-BG" dirty="0"/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A23F40D4-A168-DA2B-2A41-7F0B4491C3E9}"/>
              </a:ext>
            </a:extLst>
          </p:cNvPr>
          <p:cNvSpPr txBox="1"/>
          <p:nvPr/>
        </p:nvSpPr>
        <p:spPr>
          <a:xfrm>
            <a:off x="5164279" y="2944090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ym typeface="Wingdings" panose="05000000000000000000" pitchFamily="2" charset="2"/>
              </a:rPr>
              <a:t>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20671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96E773E-F63A-FAB5-5686-FB5781DD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00"/>
            <a:ext cx="9144000" cy="698055"/>
          </a:xfrm>
        </p:spPr>
        <p:txBody>
          <a:bodyPr/>
          <a:lstStyle/>
          <a:p>
            <a:pPr algn="ctr"/>
            <a:r>
              <a:rPr lang="ru-RU" sz="2200" b="1" i="1" dirty="0"/>
              <a:t>Управител: </a:t>
            </a:r>
            <a:r>
              <a:rPr lang="ru-RU" sz="2200" b="1" i="1" dirty="0" err="1"/>
              <a:t>продукти</a:t>
            </a:r>
            <a:r>
              <a:rPr lang="ru-RU" sz="2200" b="1" i="1" dirty="0"/>
              <a:t> и </a:t>
            </a:r>
            <a:r>
              <a:rPr lang="ru-RU" sz="2200" b="1" i="1" dirty="0" err="1"/>
              <a:t>суровини</a:t>
            </a:r>
            <a:r>
              <a:rPr lang="ru-RU" sz="2200" b="1" i="1" dirty="0"/>
              <a:t> (CRUD)</a:t>
            </a:r>
            <a:endParaRPr lang="bg-BG" sz="2200" b="1" i="1" dirty="0"/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5D73BDF9-F6FB-7AF0-89CE-3A957B5C0940}"/>
              </a:ext>
            </a:extLst>
          </p:cNvPr>
          <p:cNvSpPr txBox="1"/>
          <p:nvPr/>
        </p:nvSpPr>
        <p:spPr>
          <a:xfrm>
            <a:off x="5320146" y="2571750"/>
            <a:ext cx="306878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ptos Display" panose="020B0004020202020204" pitchFamily="34" charset="0"/>
              </a:rPr>
              <a:t>Чрез </a:t>
            </a:r>
            <a:r>
              <a:rPr lang="ru-RU" dirty="0" err="1">
                <a:latin typeface="Aptos Display" panose="020B0004020202020204" pitchFamily="34" charset="0"/>
              </a:rPr>
              <a:t>стандартни</a:t>
            </a:r>
            <a:r>
              <a:rPr lang="ru-RU" dirty="0">
                <a:latin typeface="Aptos Display" panose="020B0004020202020204" pitchFamily="34" charset="0"/>
              </a:rPr>
              <a:t> CRUD операции </a:t>
            </a:r>
            <a:r>
              <a:rPr lang="ru-RU" dirty="0" err="1">
                <a:latin typeface="Aptos Display" panose="020B0004020202020204" pitchFamily="34" charset="0"/>
              </a:rPr>
              <a:t>екипът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поддържа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актуални</a:t>
            </a:r>
            <a:r>
              <a:rPr lang="ru-RU" dirty="0">
                <a:latin typeface="Aptos Display" panose="020B0004020202020204" pitchFamily="34" charset="0"/>
              </a:rPr>
              <a:t> цени, описания и наличности, </a:t>
            </a:r>
            <a:r>
              <a:rPr lang="ru-RU" dirty="0" err="1">
                <a:latin typeface="Aptos Display" panose="020B0004020202020204" pitchFamily="34" charset="0"/>
              </a:rPr>
              <a:t>което</a:t>
            </a:r>
            <a:r>
              <a:rPr lang="ru-RU" dirty="0">
                <a:latin typeface="Aptos Display" panose="020B0004020202020204" pitchFamily="34" charset="0"/>
              </a:rPr>
              <a:t> е основа за </a:t>
            </a:r>
            <a:r>
              <a:rPr lang="ru-RU" dirty="0" err="1">
                <a:latin typeface="Aptos Display" panose="020B0004020202020204" pitchFamily="34" charset="0"/>
              </a:rPr>
              <a:t>точни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поръчки</a:t>
            </a:r>
            <a:r>
              <a:rPr lang="ru-RU" dirty="0">
                <a:latin typeface="Aptos Display" panose="020B0004020202020204" pitchFamily="34" charset="0"/>
              </a:rPr>
              <a:t> и стабилен </a:t>
            </a:r>
            <a:r>
              <a:rPr lang="ru-RU" dirty="0" err="1">
                <a:latin typeface="Aptos Display" panose="020B0004020202020204" pitchFamily="34" charset="0"/>
              </a:rPr>
              <a:t>производствен</a:t>
            </a:r>
            <a:r>
              <a:rPr lang="ru-RU" dirty="0">
                <a:latin typeface="Aptos Display" panose="020B0004020202020204" pitchFamily="34" charset="0"/>
              </a:rPr>
              <a:t> </a:t>
            </a:r>
            <a:r>
              <a:rPr lang="ru-RU" dirty="0" err="1">
                <a:latin typeface="Aptos Display" panose="020B0004020202020204" pitchFamily="34" charset="0"/>
              </a:rPr>
              <a:t>процес</a:t>
            </a:r>
            <a:r>
              <a:rPr lang="ru-RU" dirty="0">
                <a:latin typeface="Aptos Display" panose="020B0004020202020204" pitchFamily="34" charset="0"/>
              </a:rPr>
              <a:t>.</a:t>
            </a:r>
            <a:endParaRPr lang="bg-BG" dirty="0">
              <a:latin typeface="Aptos Display" panose="020B0004020202020204" pitchFamily="34" charset="0"/>
            </a:endParaRP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9B792AAA-63B4-9F4A-7089-4B02CF211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56" y="2051893"/>
            <a:ext cx="4065760" cy="24586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9703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6B0144C-26B6-E8C6-F501-0502571D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68581"/>
            <a:ext cx="9144000" cy="838201"/>
          </a:xfrm>
        </p:spPr>
        <p:txBody>
          <a:bodyPr/>
          <a:lstStyle/>
          <a:p>
            <a:pPr algn="ctr"/>
            <a:r>
              <a:rPr lang="bg-BG" sz="3400" i="1" dirty="0"/>
              <a:t>Благодаря за вниманието!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C2C0CE83-0CCA-805F-E214-13BBA444698A}"/>
              </a:ext>
            </a:extLst>
          </p:cNvPr>
          <p:cNvSpPr txBox="1"/>
          <p:nvPr/>
        </p:nvSpPr>
        <p:spPr>
          <a:xfrm>
            <a:off x="6823362" y="4455968"/>
            <a:ext cx="2043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dirty="0">
                <a:latin typeface="Aptos Display" panose="020B0004020202020204" pitchFamily="34" charset="0"/>
              </a:rPr>
              <a:t>Дарин Атанасов, Васил Иванов, Милчо Генуров</a:t>
            </a:r>
          </a:p>
        </p:txBody>
      </p:sp>
    </p:spTree>
    <p:extLst>
      <p:ext uri="{BB962C8B-B14F-4D97-AF65-F5344CB8AC3E}">
        <p14:creationId xmlns:p14="http://schemas.microsoft.com/office/powerpoint/2010/main" val="1466938187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Infographics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1012</Words>
  <Application>Microsoft Office PowerPoint</Application>
  <PresentationFormat>Презентация на цял екран (16:9)</PresentationFormat>
  <Paragraphs>103</Paragraphs>
  <Slides>27</Slides>
  <Notes>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27</vt:i4>
      </vt:variant>
    </vt:vector>
  </HeadingPairs>
  <TitlesOfParts>
    <vt:vector size="34" baseType="lpstr">
      <vt:lpstr>Alexandria Medium</vt:lpstr>
      <vt:lpstr>Albert Sans</vt:lpstr>
      <vt:lpstr>Wingdings</vt:lpstr>
      <vt:lpstr>Arial</vt:lpstr>
      <vt:lpstr>Aptos Display</vt:lpstr>
      <vt:lpstr>Cascadia Code SemiBold</vt:lpstr>
      <vt:lpstr>Lead Funnel Infographics by Slidesgo</vt:lpstr>
      <vt:lpstr>Уеб приложение „IceCreamM12“</vt:lpstr>
      <vt:lpstr>Начална страница ( първо отваряне)</vt:lpstr>
      <vt:lpstr>Публична навигация</vt:lpstr>
      <vt:lpstr>Каталог „ Продукти“ ( публичен)</vt:lpstr>
      <vt:lpstr>Страница „ Контакти“</vt:lpstr>
      <vt:lpstr>Вход / Регистрация + демо акаунти</vt:lpstr>
      <vt:lpstr>Регистрация на нов клиент</vt:lpstr>
      <vt:lpstr>Клиент: „Нова поръчка“</vt:lpstr>
      <vt:lpstr>Клиент: бизнес поръчка</vt:lpstr>
      <vt:lpstr>Клиент: изпращане на поръчка</vt:lpstr>
      <vt:lpstr>Клиент: „Моите поръчки“</vt:lpstr>
      <vt:lpstr>Служител: табло</vt:lpstr>
      <vt:lpstr>Служител: „Чакащи поръчки“</vt:lpstr>
      <vt:lpstr>Служител: история + редакция</vt:lpstr>
      <vt:lpstr>Служител: нова поръчка (авто-одобрение)</vt:lpstr>
      <vt:lpstr>Служител: складови операции</vt:lpstr>
      <vt:lpstr>Служител: производство</vt:lpstr>
      <vt:lpstr>Служител: дневна проверка</vt:lpstr>
      <vt:lpstr>Управител / Собственик: табло</vt:lpstr>
      <vt:lpstr>Управител / Собственик: табло</vt:lpstr>
      <vt:lpstr>Управител: управление на поръчки</vt:lpstr>
      <vt:lpstr>Управител: склад ( продукти + суровини)</vt:lpstr>
      <vt:lpstr>Управител: потребители и роли</vt:lpstr>
      <vt:lpstr>Управител: продукти и суровини (CRUD)</vt:lpstr>
      <vt:lpstr>Управител: продукти и суровини (CRUD)</vt:lpstr>
      <vt:lpstr>Управител: продукти и суровини (CRUD)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Дарин Д. Атанасов</cp:lastModifiedBy>
  <cp:revision>2</cp:revision>
  <dcterms:modified xsi:type="dcterms:W3CDTF">2026-02-22T10:03:04Z</dcterms:modified>
</cp:coreProperties>
</file>